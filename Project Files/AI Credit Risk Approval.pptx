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7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</p:sldIdLst>
  <p:sldSz cx="9144000" cy="5143500" type="screen16x9"/>
  <p:notesSz cx="6858000" cy="9144000"/>
  <p:embeddedFontLst>
    <p:embeddedFont>
      <p:font typeface="Krona One" panose="02010605030500060004" pitchFamily="2" charset="77"/>
      <p:regular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DC3FCA-81BC-4A11-B10A-EB24BD204CF3}">
  <a:tblStyle styleId="{E7DC3FCA-81BC-4A11-B10A-EB24BD204C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132" d="100"/>
          <a:sy n="132" d="100"/>
        </p:scale>
        <p:origin x="91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4b65433b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4b65433b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14b8edf1b8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14b8edf1b8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4b8edf1b8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14b8edf1b8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4b8edf1b8_2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14b8edf1b8_2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24C8A4EC-19F2-825F-715C-C819CEC0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4b8edf1b8_2_58:notes">
            <a:extLst>
              <a:ext uri="{FF2B5EF4-FFF2-40B4-BE49-F238E27FC236}">
                <a16:creationId xmlns:a16="http://schemas.microsoft.com/office/drawing/2014/main" id="{EBA718B5-7EAF-93FF-E5C0-B05746374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14b8edf1b8_2_58:notes">
            <a:extLst>
              <a:ext uri="{FF2B5EF4-FFF2-40B4-BE49-F238E27FC236}">
                <a16:creationId xmlns:a16="http://schemas.microsoft.com/office/drawing/2014/main" id="{94209E59-F834-EADF-E11B-904A29D66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2843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E404593D-D9F6-027E-F760-0F66854C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4b8edf1b8_2_66:notes">
            <a:extLst>
              <a:ext uri="{FF2B5EF4-FFF2-40B4-BE49-F238E27FC236}">
                <a16:creationId xmlns:a16="http://schemas.microsoft.com/office/drawing/2014/main" id="{99408632-77B7-C93A-DD45-15E164DCF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14b8edf1b8_2_66:notes">
            <a:extLst>
              <a:ext uri="{FF2B5EF4-FFF2-40B4-BE49-F238E27FC236}">
                <a16:creationId xmlns:a16="http://schemas.microsoft.com/office/drawing/2014/main" id="{B0709ED8-57A3-92EE-F370-F28EAB2D3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98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F4C1BF1B-1EA2-643B-9F06-2AF9AC78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4b8edf1b8_2_66:notes">
            <a:extLst>
              <a:ext uri="{FF2B5EF4-FFF2-40B4-BE49-F238E27FC236}">
                <a16:creationId xmlns:a16="http://schemas.microsoft.com/office/drawing/2014/main" id="{2A720A95-9982-774D-E46B-9D2B59CB3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14b8edf1b8_2_66:notes">
            <a:extLst>
              <a:ext uri="{FF2B5EF4-FFF2-40B4-BE49-F238E27FC236}">
                <a16:creationId xmlns:a16="http://schemas.microsoft.com/office/drawing/2014/main" id="{0BF0B5CB-F461-379C-DA04-1CEF4AB05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327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854FF62F-768C-BB5D-F652-BD65E51D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4b8edf1b8_2_58:notes">
            <a:extLst>
              <a:ext uri="{FF2B5EF4-FFF2-40B4-BE49-F238E27FC236}">
                <a16:creationId xmlns:a16="http://schemas.microsoft.com/office/drawing/2014/main" id="{204652BE-D652-D0F2-A5FA-FD170374F7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14b8edf1b8_2_58:notes">
            <a:extLst>
              <a:ext uri="{FF2B5EF4-FFF2-40B4-BE49-F238E27FC236}">
                <a16:creationId xmlns:a16="http://schemas.microsoft.com/office/drawing/2014/main" id="{9D283219-EE53-42EC-ED8C-CA3A5D4A5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212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E9D23029-9D69-58EA-5632-0A6712C62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4b8edf1b8_2_66:notes">
            <a:extLst>
              <a:ext uri="{FF2B5EF4-FFF2-40B4-BE49-F238E27FC236}">
                <a16:creationId xmlns:a16="http://schemas.microsoft.com/office/drawing/2014/main" id="{DFFB9E91-CBE6-D84E-D166-847F144B17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14b8edf1b8_2_66:notes">
            <a:extLst>
              <a:ext uri="{FF2B5EF4-FFF2-40B4-BE49-F238E27FC236}">
                <a16:creationId xmlns:a16="http://schemas.microsoft.com/office/drawing/2014/main" id="{A6D4D671-DAD6-8467-DC46-06C52F723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645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02309876-FD88-3A7C-663F-E75C7DF8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4b8edf1b8_2_58:notes">
            <a:extLst>
              <a:ext uri="{FF2B5EF4-FFF2-40B4-BE49-F238E27FC236}">
                <a16:creationId xmlns:a16="http://schemas.microsoft.com/office/drawing/2014/main" id="{EA5354F5-1939-C546-9FF5-8C2131392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14b8edf1b8_2_58:notes">
            <a:extLst>
              <a:ext uri="{FF2B5EF4-FFF2-40B4-BE49-F238E27FC236}">
                <a16:creationId xmlns:a16="http://schemas.microsoft.com/office/drawing/2014/main" id="{3E3296FF-291A-EC7E-10A2-0D8D74261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958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86674114-3556-4DC7-A465-8E2EAA30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4b8edf1b8_2_58:notes">
            <a:extLst>
              <a:ext uri="{FF2B5EF4-FFF2-40B4-BE49-F238E27FC236}">
                <a16:creationId xmlns:a16="http://schemas.microsoft.com/office/drawing/2014/main" id="{4B06A499-2B41-C9FA-013B-052385BD6E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14b8edf1b8_2_58:notes">
            <a:extLst>
              <a:ext uri="{FF2B5EF4-FFF2-40B4-BE49-F238E27FC236}">
                <a16:creationId xmlns:a16="http://schemas.microsoft.com/office/drawing/2014/main" id="{23A7EE3D-5D60-115A-530D-86145C37A7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254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056CC815-7DE6-1783-3A03-8CD1C7BF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4b8edf1b8_2_66:notes">
            <a:extLst>
              <a:ext uri="{FF2B5EF4-FFF2-40B4-BE49-F238E27FC236}">
                <a16:creationId xmlns:a16="http://schemas.microsoft.com/office/drawing/2014/main" id="{8321AA89-F918-FD05-FD27-54AE63E52D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14b8edf1b8_2_66:notes">
            <a:extLst>
              <a:ext uri="{FF2B5EF4-FFF2-40B4-BE49-F238E27FC236}">
                <a16:creationId xmlns:a16="http://schemas.microsoft.com/office/drawing/2014/main" id="{3E2BDB96-75E7-4E11-F5AC-DD6EAB781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1223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032DD850-E516-3C3D-2960-86C43E4E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4b8edf1b8_2_58:notes">
            <a:extLst>
              <a:ext uri="{FF2B5EF4-FFF2-40B4-BE49-F238E27FC236}">
                <a16:creationId xmlns:a16="http://schemas.microsoft.com/office/drawing/2014/main" id="{A30218C8-C2F2-6023-5D2B-56770068C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14b8edf1b8_2_58:notes">
            <a:extLst>
              <a:ext uri="{FF2B5EF4-FFF2-40B4-BE49-F238E27FC236}">
                <a16:creationId xmlns:a16="http://schemas.microsoft.com/office/drawing/2014/main" id="{115EFE8D-B379-9EC5-A3E1-AC84E8522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404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ADEC68E5-7D5B-9213-7305-88A7A52F6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4b8edf1b8_2_66:notes">
            <a:extLst>
              <a:ext uri="{FF2B5EF4-FFF2-40B4-BE49-F238E27FC236}">
                <a16:creationId xmlns:a16="http://schemas.microsoft.com/office/drawing/2014/main" id="{6612A8EB-D002-62E8-348B-25229709A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14b8edf1b8_2_66:notes">
            <a:extLst>
              <a:ext uri="{FF2B5EF4-FFF2-40B4-BE49-F238E27FC236}">
                <a16:creationId xmlns:a16="http://schemas.microsoft.com/office/drawing/2014/main" id="{EC193389-F2F8-5742-0C80-98430B82F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39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747000"/>
            <a:ext cx="3750900" cy="2624400"/>
          </a:xfrm>
          <a:prstGeom prst="rect">
            <a:avLst/>
          </a:prstGeom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39250" y="3624800"/>
            <a:ext cx="3750900" cy="366300"/>
          </a:xfrm>
          <a:prstGeom prst="rect">
            <a:avLst/>
          </a:prstGeom>
          <a:noFill/>
          <a:effectLst>
            <a:outerShdw blurRad="242888" dist="142875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948150" y="248250"/>
            <a:ext cx="4647000" cy="4647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439501" y="1224850"/>
            <a:ext cx="2442000" cy="24420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751900" y="4284550"/>
            <a:ext cx="3835200" cy="1270200"/>
          </a:xfrm>
          <a:prstGeom prst="roundRect">
            <a:avLst>
              <a:gd name="adj" fmla="val 42694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129200" y="-1854250"/>
            <a:ext cx="2531400" cy="2531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598300" y="4501825"/>
            <a:ext cx="3821700" cy="3821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7363100" y="4282400"/>
            <a:ext cx="2013300" cy="1809900"/>
          </a:xfrm>
          <a:prstGeom prst="roundRect">
            <a:avLst>
              <a:gd name="adj" fmla="val 34994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305950" y="2158100"/>
            <a:ext cx="3636600" cy="12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1305950" y="1312600"/>
            <a:ext cx="1108800" cy="66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305950" y="3404300"/>
            <a:ext cx="4217700" cy="42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-2464500" y="3750850"/>
            <a:ext cx="4647000" cy="4647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1361999" y="4853350"/>
            <a:ext cx="2442000" cy="24420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070662" y="2666150"/>
            <a:ext cx="2013300" cy="3426000"/>
          </a:xfrm>
          <a:prstGeom prst="roundRect">
            <a:avLst>
              <a:gd name="adj" fmla="val 29912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662950" y="-1233600"/>
            <a:ext cx="2828700" cy="28287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-1298200" y="-858325"/>
            <a:ext cx="2013300" cy="1809900"/>
          </a:xfrm>
          <a:prstGeom prst="roundRect">
            <a:avLst>
              <a:gd name="adj" fmla="val 34994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/>
          <p:nvPr/>
        </p:nvSpPr>
        <p:spPr>
          <a:xfrm>
            <a:off x="-1287375" y="3904250"/>
            <a:ext cx="2531400" cy="25314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5413325" y="3839625"/>
            <a:ext cx="3472500" cy="2264700"/>
          </a:xfrm>
          <a:prstGeom prst="roundRect">
            <a:avLst>
              <a:gd name="adj" fmla="val 19979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71500" dist="142875" dir="2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95525" y="1564975"/>
            <a:ext cx="3745800" cy="23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/>
          <p:nvPr/>
        </p:nvSpPr>
        <p:spPr>
          <a:xfrm>
            <a:off x="6692650" y="2510750"/>
            <a:ext cx="3472500" cy="3172200"/>
          </a:xfrm>
          <a:prstGeom prst="roundRect">
            <a:avLst>
              <a:gd name="adj" fmla="val 18203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71500" dist="142875" dir="2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8301975" y="-2002450"/>
            <a:ext cx="3472500" cy="34725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-778725" y="4412900"/>
            <a:ext cx="1514100" cy="15141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720000" y="942700"/>
            <a:ext cx="7704000" cy="220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1"/>
          </p:nvPr>
        </p:nvSpPr>
        <p:spPr>
          <a:xfrm>
            <a:off x="2241450" y="3498975"/>
            <a:ext cx="4661100" cy="5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7502275" y="3545325"/>
            <a:ext cx="3355200" cy="33552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8298326" y="4341369"/>
            <a:ext cx="1763100" cy="17631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-3154025" y="3934500"/>
            <a:ext cx="3835200" cy="1935900"/>
          </a:xfrm>
          <a:prstGeom prst="roundRect">
            <a:avLst>
              <a:gd name="adj" fmla="val 23875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-2052475" y="4518174"/>
            <a:ext cx="3835200" cy="1935900"/>
          </a:xfrm>
          <a:prstGeom prst="roundRect">
            <a:avLst>
              <a:gd name="adj" fmla="val 22706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758600" y="-839525"/>
            <a:ext cx="3835200" cy="1493400"/>
          </a:xfrm>
          <a:prstGeom prst="roundRect">
            <a:avLst>
              <a:gd name="adj" fmla="val 33564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/>
          <p:nvPr/>
        </p:nvSpPr>
        <p:spPr>
          <a:xfrm>
            <a:off x="-1016424" y="-1045531"/>
            <a:ext cx="1763100" cy="1763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720013" y="1733475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 idx="2" hasCustomPrompt="1"/>
          </p:nvPr>
        </p:nvSpPr>
        <p:spPr>
          <a:xfrm>
            <a:off x="720013" y="120580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"/>
          </p:nvPr>
        </p:nvSpPr>
        <p:spPr>
          <a:xfrm>
            <a:off x="720000" y="225515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 idx="3"/>
          </p:nvPr>
        </p:nvSpPr>
        <p:spPr>
          <a:xfrm>
            <a:off x="3403863" y="1733475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title" idx="4" hasCustomPrompt="1"/>
          </p:nvPr>
        </p:nvSpPr>
        <p:spPr>
          <a:xfrm>
            <a:off x="3403813" y="120575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5"/>
          <p:cNvSpPr txBox="1">
            <a:spLocks noGrp="1"/>
          </p:cNvSpPr>
          <p:nvPr>
            <p:ph type="subTitle" idx="5"/>
          </p:nvPr>
        </p:nvSpPr>
        <p:spPr>
          <a:xfrm>
            <a:off x="3403800" y="225515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title" idx="6"/>
          </p:nvPr>
        </p:nvSpPr>
        <p:spPr>
          <a:xfrm>
            <a:off x="6087538" y="1733475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title" idx="7" hasCustomPrompt="1"/>
          </p:nvPr>
        </p:nvSpPr>
        <p:spPr>
          <a:xfrm>
            <a:off x="6087613" y="120575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8"/>
          </p:nvPr>
        </p:nvSpPr>
        <p:spPr>
          <a:xfrm>
            <a:off x="6087600" y="225515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title" idx="9"/>
          </p:nvPr>
        </p:nvSpPr>
        <p:spPr>
          <a:xfrm>
            <a:off x="720197" y="3370200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title" idx="13" hasCustomPrompt="1"/>
          </p:nvPr>
        </p:nvSpPr>
        <p:spPr>
          <a:xfrm>
            <a:off x="720075" y="284250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5"/>
          <p:cNvSpPr txBox="1">
            <a:spLocks noGrp="1"/>
          </p:cNvSpPr>
          <p:nvPr>
            <p:ph type="subTitle" idx="14"/>
          </p:nvPr>
        </p:nvSpPr>
        <p:spPr>
          <a:xfrm>
            <a:off x="720000" y="388737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 idx="15"/>
          </p:nvPr>
        </p:nvSpPr>
        <p:spPr>
          <a:xfrm>
            <a:off x="3404017" y="3370200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 idx="16" hasCustomPrompt="1"/>
          </p:nvPr>
        </p:nvSpPr>
        <p:spPr>
          <a:xfrm>
            <a:off x="3403875" y="284250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17"/>
          </p:nvPr>
        </p:nvSpPr>
        <p:spPr>
          <a:xfrm>
            <a:off x="3403800" y="388737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 idx="18"/>
          </p:nvPr>
        </p:nvSpPr>
        <p:spPr>
          <a:xfrm>
            <a:off x="6087661" y="3370200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idx="19" hasCustomPrompt="1"/>
          </p:nvPr>
        </p:nvSpPr>
        <p:spPr>
          <a:xfrm>
            <a:off x="6087675" y="284250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20"/>
          </p:nvPr>
        </p:nvSpPr>
        <p:spPr>
          <a:xfrm>
            <a:off x="6087600" y="388737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 idx="21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41100" y="-807475"/>
            <a:ext cx="3835200" cy="1493400"/>
          </a:xfrm>
          <a:prstGeom prst="roundRect">
            <a:avLst>
              <a:gd name="adj" fmla="val 33564"/>
            </a:avLst>
          </a:prstGeom>
          <a:gradFill>
            <a:gsLst>
              <a:gs pos="0">
                <a:srgbClr val="424044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-1931275" y="4327950"/>
            <a:ext cx="2914200" cy="29139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7338100" y="4540350"/>
            <a:ext cx="3071100" cy="1882800"/>
          </a:xfrm>
          <a:prstGeom prst="roundRect">
            <a:avLst>
              <a:gd name="adj" fmla="val 32126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71500" dist="142875" dir="2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1"/>
          </p:nvPr>
        </p:nvSpPr>
        <p:spPr>
          <a:xfrm>
            <a:off x="3003150" y="1675363"/>
            <a:ext cx="31377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2"/>
          </p:nvPr>
        </p:nvSpPr>
        <p:spPr>
          <a:xfrm>
            <a:off x="3003150" y="3249850"/>
            <a:ext cx="31377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Krona One"/>
              <a:buNone/>
              <a:defRPr sz="24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3"/>
          </p:nvPr>
        </p:nvSpPr>
        <p:spPr>
          <a:xfrm>
            <a:off x="3174750" y="2333000"/>
            <a:ext cx="27945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4"/>
          </p:nvPr>
        </p:nvSpPr>
        <p:spPr>
          <a:xfrm>
            <a:off x="3174750" y="3895100"/>
            <a:ext cx="27945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8554475" y="4047950"/>
            <a:ext cx="1613100" cy="1121100"/>
          </a:xfrm>
          <a:prstGeom prst="roundRect">
            <a:avLst>
              <a:gd name="adj" fmla="val 41700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71500" dist="142875" dir="2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-1400800" y="3721050"/>
            <a:ext cx="2794500" cy="2794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-1400800" y="4158850"/>
            <a:ext cx="2356800" cy="23568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BLANK_1_1_1_2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720000" y="2423313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ubTitle" idx="1"/>
          </p:nvPr>
        </p:nvSpPr>
        <p:spPr>
          <a:xfrm>
            <a:off x="7200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title" idx="2"/>
          </p:nvPr>
        </p:nvSpPr>
        <p:spPr>
          <a:xfrm>
            <a:off x="3403800" y="2423313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subTitle" idx="3"/>
          </p:nvPr>
        </p:nvSpPr>
        <p:spPr>
          <a:xfrm>
            <a:off x="34038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 idx="4"/>
          </p:nvPr>
        </p:nvSpPr>
        <p:spPr>
          <a:xfrm>
            <a:off x="6087600" y="2423313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5"/>
          </p:nvPr>
        </p:nvSpPr>
        <p:spPr>
          <a:xfrm>
            <a:off x="60876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/>
          <p:nvPr/>
        </p:nvSpPr>
        <p:spPr>
          <a:xfrm>
            <a:off x="-956700" y="3100800"/>
            <a:ext cx="1931700" cy="2401500"/>
          </a:xfrm>
          <a:prstGeom prst="roundRect">
            <a:avLst>
              <a:gd name="adj" fmla="val 21394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71500" dist="142875" dir="2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242075" y="4272950"/>
            <a:ext cx="1931700" cy="1381800"/>
          </a:xfrm>
          <a:prstGeom prst="roundRect">
            <a:avLst>
              <a:gd name="adj" fmla="val 21394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71500" dist="142875" dir="2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1"/>
          <p:cNvSpPr/>
          <p:nvPr/>
        </p:nvSpPr>
        <p:spPr>
          <a:xfrm>
            <a:off x="7443400" y="-1878925"/>
            <a:ext cx="3171900" cy="3171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  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62" name="Google Shape;262;p31"/>
          <p:cNvSpPr/>
          <p:nvPr/>
        </p:nvSpPr>
        <p:spPr>
          <a:xfrm>
            <a:off x="8014900" y="-1878925"/>
            <a:ext cx="2511000" cy="25110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/>
          <p:nvPr/>
        </p:nvSpPr>
        <p:spPr>
          <a:xfrm>
            <a:off x="8496625" y="3194950"/>
            <a:ext cx="1931700" cy="2401500"/>
          </a:xfrm>
          <a:prstGeom prst="roundRect">
            <a:avLst>
              <a:gd name="adj" fmla="val 21394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71500" dist="142875" dir="2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7543825" y="4474675"/>
            <a:ext cx="1931700" cy="1381800"/>
          </a:xfrm>
          <a:prstGeom prst="roundRect">
            <a:avLst>
              <a:gd name="adj" fmla="val 21394"/>
            </a:avLst>
          </a:prstGeom>
          <a:gradFill>
            <a:gsLst>
              <a:gs pos="0">
                <a:srgbClr val="434343"/>
              </a:gs>
              <a:gs pos="100000">
                <a:srgbClr val="232323"/>
              </a:gs>
            </a:gsLst>
            <a:lin ang="5400700" scaled="0"/>
          </a:gradFill>
          <a:ln>
            <a:noFill/>
          </a:ln>
          <a:effectLst>
            <a:outerShdw blurRad="571500" dist="142875" dir="2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2"/>
          <p:cNvSpPr/>
          <p:nvPr/>
        </p:nvSpPr>
        <p:spPr>
          <a:xfrm>
            <a:off x="-1014825" y="-1589825"/>
            <a:ext cx="2511000" cy="2511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485775" dist="133350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Krona One"/>
              <a:buNone/>
              <a:defRPr sz="3200">
                <a:solidFill>
                  <a:schemeClr val="lt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7" r:id="rId4"/>
    <p:sldLayoutId id="2147483660" r:id="rId5"/>
    <p:sldLayoutId id="2147483661" r:id="rId6"/>
    <p:sldLayoutId id="2147483668" r:id="rId7"/>
    <p:sldLayoutId id="2147483671" r:id="rId8"/>
    <p:sldLayoutId id="2147483677" r:id="rId9"/>
    <p:sldLayoutId id="214748367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/>
          <p:nvPr/>
        </p:nvSpPr>
        <p:spPr>
          <a:xfrm>
            <a:off x="635600" y="2711768"/>
            <a:ext cx="3909900" cy="42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7"/>
          <p:cNvSpPr txBox="1">
            <a:spLocks noGrp="1"/>
          </p:cNvSpPr>
          <p:nvPr>
            <p:ph type="ctrTitle"/>
          </p:nvPr>
        </p:nvSpPr>
        <p:spPr>
          <a:xfrm>
            <a:off x="715100" y="747000"/>
            <a:ext cx="3750900" cy="26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AI-Powered Credit Risk Assessment System</a:t>
            </a:r>
            <a:br>
              <a:rPr lang="en-US" sz="2000" dirty="0"/>
            </a:br>
            <a:r>
              <a:rPr lang="en-US" sz="900" dirty="0"/>
              <a:t>Using the UCI Australian Credit Approval Dataset</a:t>
            </a:r>
            <a:endParaRPr sz="2000" dirty="0"/>
          </a:p>
        </p:txBody>
      </p:sp>
      <p:sp>
        <p:nvSpPr>
          <p:cNvPr id="282" name="Google Shape;282;p37"/>
          <p:cNvSpPr txBox="1">
            <a:spLocks noGrp="1"/>
          </p:cNvSpPr>
          <p:nvPr>
            <p:ph type="subTitle" idx="1"/>
          </p:nvPr>
        </p:nvSpPr>
        <p:spPr>
          <a:xfrm>
            <a:off x="731387" y="2718890"/>
            <a:ext cx="3750900" cy="3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by – Venkata Sivani Dasari</a:t>
            </a:r>
          </a:p>
        </p:txBody>
      </p:sp>
      <p:grpSp>
        <p:nvGrpSpPr>
          <p:cNvPr id="283" name="Google Shape;283;p37"/>
          <p:cNvGrpSpPr/>
          <p:nvPr/>
        </p:nvGrpSpPr>
        <p:grpSpPr>
          <a:xfrm>
            <a:off x="5779325" y="535000"/>
            <a:ext cx="2531400" cy="3821700"/>
            <a:chOff x="5779325" y="535000"/>
            <a:chExt cx="2531400" cy="3821700"/>
          </a:xfrm>
        </p:grpSpPr>
        <p:sp>
          <p:nvSpPr>
            <p:cNvPr id="284" name="Google Shape;284;p37"/>
            <p:cNvSpPr/>
            <p:nvPr/>
          </p:nvSpPr>
          <p:spPr>
            <a:xfrm>
              <a:off x="5779325" y="535000"/>
              <a:ext cx="2531400" cy="38217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34343"/>
                </a:gs>
                <a:gs pos="100000">
                  <a:srgbClr val="232323"/>
                </a:gs>
              </a:gsLst>
              <a:lin ang="5400012" scaled="0"/>
            </a:gradFill>
            <a:ln>
              <a:noFill/>
            </a:ln>
            <a:effectLst>
              <a:outerShdw blurRad="500063" dist="142875" dir="2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5" name="Google Shape;285;p37"/>
            <p:cNvGrpSpPr/>
            <p:nvPr/>
          </p:nvGrpSpPr>
          <p:grpSpPr>
            <a:xfrm>
              <a:off x="6084743" y="3663665"/>
              <a:ext cx="319872" cy="310247"/>
              <a:chOff x="3270675" y="841800"/>
              <a:chExt cx="497700" cy="482725"/>
            </a:xfrm>
          </p:grpSpPr>
          <p:sp>
            <p:nvSpPr>
              <p:cNvPr id="286" name="Google Shape;286;p37"/>
              <p:cNvSpPr/>
              <p:nvPr/>
            </p:nvSpPr>
            <p:spPr>
              <a:xfrm>
                <a:off x="3270675" y="902000"/>
                <a:ext cx="447125" cy="422525"/>
              </a:xfrm>
              <a:custGeom>
                <a:avLst/>
                <a:gdLst/>
                <a:ahLst/>
                <a:cxnLst/>
                <a:rect l="l" t="t" r="r" b="b"/>
                <a:pathLst>
                  <a:path w="17885" h="16901" extrusionOk="0">
                    <a:moveTo>
                      <a:pt x="3454" y="0"/>
                    </a:moveTo>
                    <a:cubicBezTo>
                      <a:pt x="3343" y="0"/>
                      <a:pt x="3231" y="40"/>
                      <a:pt x="3141" y="122"/>
                    </a:cubicBezTo>
                    <a:cubicBezTo>
                      <a:pt x="1160" y="1940"/>
                      <a:pt x="0" y="4548"/>
                      <a:pt x="0" y="7246"/>
                    </a:cubicBezTo>
                    <a:cubicBezTo>
                      <a:pt x="0" y="12579"/>
                      <a:pt x="4325" y="16900"/>
                      <a:pt x="9657" y="16900"/>
                    </a:cubicBezTo>
                    <a:cubicBezTo>
                      <a:pt x="10907" y="16900"/>
                      <a:pt x="12175" y="16662"/>
                      <a:pt x="13331" y="16178"/>
                    </a:cubicBezTo>
                    <a:cubicBezTo>
                      <a:pt x="15126" y="15434"/>
                      <a:pt x="16659" y="14169"/>
                      <a:pt x="17728" y="12546"/>
                    </a:cubicBezTo>
                    <a:cubicBezTo>
                      <a:pt x="17884" y="12305"/>
                      <a:pt x="17788" y="11983"/>
                      <a:pt x="17526" y="11866"/>
                    </a:cubicBezTo>
                    <a:lnTo>
                      <a:pt x="9158" y="8171"/>
                    </a:lnTo>
                    <a:cubicBezTo>
                      <a:pt x="9016" y="8108"/>
                      <a:pt x="8896" y="8005"/>
                      <a:pt x="8811" y="7876"/>
                    </a:cubicBezTo>
                    <a:lnTo>
                      <a:pt x="8405" y="7246"/>
                    </a:lnTo>
                    <a:lnTo>
                      <a:pt x="3846" y="212"/>
                    </a:lnTo>
                    <a:cubicBezTo>
                      <a:pt x="3756" y="73"/>
                      <a:pt x="3606" y="0"/>
                      <a:pt x="34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7" name="Google Shape;287;p37"/>
              <p:cNvSpPr/>
              <p:nvPr/>
            </p:nvSpPr>
            <p:spPr>
              <a:xfrm>
                <a:off x="3385250" y="841800"/>
                <a:ext cx="279700" cy="220925"/>
              </a:xfrm>
              <a:custGeom>
                <a:avLst/>
                <a:gdLst/>
                <a:ahLst/>
                <a:cxnLst/>
                <a:rect l="l" t="t" r="r" b="b"/>
                <a:pathLst>
                  <a:path w="11188" h="8837" extrusionOk="0">
                    <a:moveTo>
                      <a:pt x="5070" y="0"/>
                    </a:moveTo>
                    <a:cubicBezTo>
                      <a:pt x="3434" y="0"/>
                      <a:pt x="1792" y="415"/>
                      <a:pt x="308" y="1256"/>
                    </a:cubicBezTo>
                    <a:cubicBezTo>
                      <a:pt x="76" y="1388"/>
                      <a:pt x="1" y="1690"/>
                      <a:pt x="148" y="1912"/>
                    </a:cubicBezTo>
                    <a:lnTo>
                      <a:pt x="4532" y="8676"/>
                    </a:lnTo>
                    <a:cubicBezTo>
                      <a:pt x="4601" y="8781"/>
                      <a:pt x="4714" y="8837"/>
                      <a:pt x="4828" y="8837"/>
                    </a:cubicBezTo>
                    <a:cubicBezTo>
                      <a:pt x="4919" y="8837"/>
                      <a:pt x="5010" y="8802"/>
                      <a:pt x="5081" y="8730"/>
                    </a:cubicBezTo>
                    <a:lnTo>
                      <a:pt x="10992" y="2683"/>
                    </a:lnTo>
                    <a:cubicBezTo>
                      <a:pt x="11187" y="2482"/>
                      <a:pt x="11163" y="2156"/>
                      <a:pt x="10940" y="1988"/>
                    </a:cubicBezTo>
                    <a:cubicBezTo>
                      <a:pt x="9218" y="670"/>
                      <a:pt x="7149" y="0"/>
                      <a:pt x="50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8" name="Google Shape;288;p37"/>
              <p:cNvSpPr/>
              <p:nvPr/>
            </p:nvSpPr>
            <p:spPr>
              <a:xfrm>
                <a:off x="3530100" y="924750"/>
                <a:ext cx="238275" cy="250200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008" extrusionOk="0">
                    <a:moveTo>
                      <a:pt x="6350" y="1"/>
                    </a:moveTo>
                    <a:cubicBezTo>
                      <a:pt x="6230" y="1"/>
                      <a:pt x="6108" y="47"/>
                      <a:pt x="6017" y="142"/>
                    </a:cubicBezTo>
                    <a:lnTo>
                      <a:pt x="172" y="6123"/>
                    </a:lnTo>
                    <a:cubicBezTo>
                      <a:pt x="0" y="6297"/>
                      <a:pt x="57" y="6589"/>
                      <a:pt x="283" y="6689"/>
                    </a:cubicBezTo>
                    <a:lnTo>
                      <a:pt x="7706" y="9968"/>
                    </a:lnTo>
                    <a:cubicBezTo>
                      <a:pt x="7767" y="9995"/>
                      <a:pt x="7830" y="10007"/>
                      <a:pt x="7893" y="10007"/>
                    </a:cubicBezTo>
                    <a:cubicBezTo>
                      <a:pt x="8082" y="10007"/>
                      <a:pt x="8261" y="9890"/>
                      <a:pt x="8329" y="9700"/>
                    </a:cubicBezTo>
                    <a:cubicBezTo>
                      <a:pt x="9531" y="6463"/>
                      <a:pt x="8913" y="2828"/>
                      <a:pt x="6706" y="169"/>
                    </a:cubicBezTo>
                    <a:cubicBezTo>
                      <a:pt x="6615" y="57"/>
                      <a:pt x="6483" y="1"/>
                      <a:pt x="63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89" name="Google Shape;289;p37"/>
            <p:cNvSpPr/>
            <p:nvPr/>
          </p:nvSpPr>
          <p:spPr>
            <a:xfrm>
              <a:off x="6586388" y="3660609"/>
              <a:ext cx="319893" cy="316358"/>
            </a:xfrm>
            <a:custGeom>
              <a:avLst/>
              <a:gdLst/>
              <a:ahLst/>
              <a:cxnLst/>
              <a:rect l="l" t="t" r="r" b="b"/>
              <a:pathLst>
                <a:path w="12760" h="12619" extrusionOk="0">
                  <a:moveTo>
                    <a:pt x="10082" y="2190"/>
                  </a:moveTo>
                  <a:lnTo>
                    <a:pt x="11027" y="2726"/>
                  </a:lnTo>
                  <a:lnTo>
                    <a:pt x="8948" y="6317"/>
                  </a:lnTo>
                  <a:lnTo>
                    <a:pt x="8003" y="5781"/>
                  </a:lnTo>
                  <a:cubicBezTo>
                    <a:pt x="8349" y="5151"/>
                    <a:pt x="9704" y="2820"/>
                    <a:pt x="10082" y="2190"/>
                  </a:cubicBezTo>
                  <a:close/>
                  <a:moveTo>
                    <a:pt x="7813" y="6601"/>
                  </a:moveTo>
                  <a:lnTo>
                    <a:pt x="8318" y="6916"/>
                  </a:lnTo>
                  <a:lnTo>
                    <a:pt x="7782" y="7262"/>
                  </a:lnTo>
                  <a:lnTo>
                    <a:pt x="7813" y="6601"/>
                  </a:lnTo>
                  <a:close/>
                  <a:moveTo>
                    <a:pt x="10554" y="8522"/>
                  </a:moveTo>
                  <a:cubicBezTo>
                    <a:pt x="10806" y="8522"/>
                    <a:pt x="10964" y="8711"/>
                    <a:pt x="10964" y="8900"/>
                  </a:cubicBezTo>
                  <a:cubicBezTo>
                    <a:pt x="10964" y="9153"/>
                    <a:pt x="10806" y="9342"/>
                    <a:pt x="10554" y="9342"/>
                  </a:cubicBezTo>
                  <a:lnTo>
                    <a:pt x="5608" y="9342"/>
                  </a:lnTo>
                  <a:cubicBezTo>
                    <a:pt x="5356" y="9342"/>
                    <a:pt x="5167" y="9153"/>
                    <a:pt x="5167" y="8900"/>
                  </a:cubicBezTo>
                  <a:cubicBezTo>
                    <a:pt x="5167" y="8680"/>
                    <a:pt x="5356" y="8522"/>
                    <a:pt x="5608" y="8522"/>
                  </a:cubicBezTo>
                  <a:close/>
                  <a:moveTo>
                    <a:pt x="3088" y="5592"/>
                  </a:moveTo>
                  <a:cubicBezTo>
                    <a:pt x="3308" y="5592"/>
                    <a:pt x="3497" y="5813"/>
                    <a:pt x="3497" y="6002"/>
                  </a:cubicBezTo>
                  <a:lnTo>
                    <a:pt x="3497" y="6286"/>
                  </a:lnTo>
                  <a:cubicBezTo>
                    <a:pt x="3970" y="6443"/>
                    <a:pt x="4348" y="6916"/>
                    <a:pt x="4348" y="7451"/>
                  </a:cubicBezTo>
                  <a:cubicBezTo>
                    <a:pt x="4348" y="7703"/>
                    <a:pt x="4159" y="7861"/>
                    <a:pt x="3907" y="7861"/>
                  </a:cubicBezTo>
                  <a:cubicBezTo>
                    <a:pt x="3655" y="7861"/>
                    <a:pt x="3497" y="7640"/>
                    <a:pt x="3497" y="7451"/>
                  </a:cubicBezTo>
                  <a:cubicBezTo>
                    <a:pt x="3497" y="7231"/>
                    <a:pt x="3308" y="7010"/>
                    <a:pt x="3088" y="7010"/>
                  </a:cubicBezTo>
                  <a:cubicBezTo>
                    <a:pt x="2836" y="7010"/>
                    <a:pt x="2678" y="7231"/>
                    <a:pt x="2678" y="7451"/>
                  </a:cubicBezTo>
                  <a:cubicBezTo>
                    <a:pt x="2678" y="7703"/>
                    <a:pt x="3025" y="7924"/>
                    <a:pt x="3340" y="8176"/>
                  </a:cubicBezTo>
                  <a:cubicBezTo>
                    <a:pt x="3781" y="8491"/>
                    <a:pt x="4348" y="8869"/>
                    <a:pt x="4348" y="9531"/>
                  </a:cubicBezTo>
                  <a:cubicBezTo>
                    <a:pt x="4348" y="10098"/>
                    <a:pt x="3970" y="10539"/>
                    <a:pt x="3497" y="10728"/>
                  </a:cubicBezTo>
                  <a:lnTo>
                    <a:pt x="3497" y="11011"/>
                  </a:lnTo>
                  <a:cubicBezTo>
                    <a:pt x="3497" y="11232"/>
                    <a:pt x="3308" y="11452"/>
                    <a:pt x="3088" y="11452"/>
                  </a:cubicBezTo>
                  <a:cubicBezTo>
                    <a:pt x="2836" y="11452"/>
                    <a:pt x="2678" y="11232"/>
                    <a:pt x="2678" y="11011"/>
                  </a:cubicBezTo>
                  <a:lnTo>
                    <a:pt x="2678" y="10728"/>
                  </a:lnTo>
                  <a:cubicBezTo>
                    <a:pt x="2206" y="10570"/>
                    <a:pt x="1859" y="10098"/>
                    <a:pt x="1859" y="9531"/>
                  </a:cubicBezTo>
                  <a:cubicBezTo>
                    <a:pt x="1859" y="9310"/>
                    <a:pt x="2048" y="9121"/>
                    <a:pt x="2300" y="9121"/>
                  </a:cubicBezTo>
                  <a:cubicBezTo>
                    <a:pt x="2521" y="9121"/>
                    <a:pt x="2678" y="9310"/>
                    <a:pt x="2678" y="9531"/>
                  </a:cubicBezTo>
                  <a:cubicBezTo>
                    <a:pt x="2678" y="9783"/>
                    <a:pt x="2867" y="9940"/>
                    <a:pt x="3088" y="9940"/>
                  </a:cubicBezTo>
                  <a:cubicBezTo>
                    <a:pt x="3308" y="9940"/>
                    <a:pt x="3497" y="9751"/>
                    <a:pt x="3497" y="9531"/>
                  </a:cubicBezTo>
                  <a:cubicBezTo>
                    <a:pt x="3497" y="9310"/>
                    <a:pt x="3182" y="9089"/>
                    <a:pt x="2836" y="8837"/>
                  </a:cubicBezTo>
                  <a:cubicBezTo>
                    <a:pt x="2395" y="8522"/>
                    <a:pt x="1859" y="8113"/>
                    <a:pt x="1859" y="7451"/>
                  </a:cubicBezTo>
                  <a:cubicBezTo>
                    <a:pt x="1859" y="6916"/>
                    <a:pt x="2206" y="6475"/>
                    <a:pt x="2678" y="6286"/>
                  </a:cubicBezTo>
                  <a:lnTo>
                    <a:pt x="2678" y="6002"/>
                  </a:lnTo>
                  <a:cubicBezTo>
                    <a:pt x="2678" y="5750"/>
                    <a:pt x="2867" y="5592"/>
                    <a:pt x="3088" y="5592"/>
                  </a:cubicBezTo>
                  <a:close/>
                  <a:moveTo>
                    <a:pt x="10554" y="11011"/>
                  </a:moveTo>
                  <a:cubicBezTo>
                    <a:pt x="10806" y="11011"/>
                    <a:pt x="10964" y="11200"/>
                    <a:pt x="10964" y="11452"/>
                  </a:cubicBezTo>
                  <a:cubicBezTo>
                    <a:pt x="10964" y="11641"/>
                    <a:pt x="10806" y="11830"/>
                    <a:pt x="10554" y="11830"/>
                  </a:cubicBezTo>
                  <a:lnTo>
                    <a:pt x="5608" y="11830"/>
                  </a:lnTo>
                  <a:cubicBezTo>
                    <a:pt x="5356" y="11830"/>
                    <a:pt x="5167" y="11641"/>
                    <a:pt x="5167" y="11452"/>
                  </a:cubicBezTo>
                  <a:cubicBezTo>
                    <a:pt x="5167" y="11200"/>
                    <a:pt x="5356" y="11011"/>
                    <a:pt x="5608" y="11011"/>
                  </a:cubicBezTo>
                  <a:close/>
                  <a:moveTo>
                    <a:pt x="10933" y="1"/>
                  </a:moveTo>
                  <a:cubicBezTo>
                    <a:pt x="10599" y="1"/>
                    <a:pt x="10280" y="176"/>
                    <a:pt x="10113" y="489"/>
                  </a:cubicBezTo>
                  <a:lnTo>
                    <a:pt x="7877" y="4395"/>
                  </a:lnTo>
                  <a:lnTo>
                    <a:pt x="1229" y="4395"/>
                  </a:lnTo>
                  <a:cubicBezTo>
                    <a:pt x="567" y="4395"/>
                    <a:pt x="0" y="4931"/>
                    <a:pt x="0" y="5592"/>
                  </a:cubicBezTo>
                  <a:lnTo>
                    <a:pt x="0" y="11389"/>
                  </a:lnTo>
                  <a:cubicBezTo>
                    <a:pt x="0" y="12051"/>
                    <a:pt x="567" y="12618"/>
                    <a:pt x="1229" y="12618"/>
                  </a:cubicBezTo>
                  <a:lnTo>
                    <a:pt x="11437" y="12618"/>
                  </a:lnTo>
                  <a:cubicBezTo>
                    <a:pt x="12098" y="12618"/>
                    <a:pt x="12697" y="12082"/>
                    <a:pt x="12697" y="11389"/>
                  </a:cubicBezTo>
                  <a:lnTo>
                    <a:pt x="12697" y="5592"/>
                  </a:lnTo>
                  <a:cubicBezTo>
                    <a:pt x="12602" y="4931"/>
                    <a:pt x="12067" y="4395"/>
                    <a:pt x="11374" y="4395"/>
                  </a:cubicBezTo>
                  <a:lnTo>
                    <a:pt x="11027" y="4395"/>
                  </a:lnTo>
                  <a:lnTo>
                    <a:pt x="12476" y="1875"/>
                  </a:lnTo>
                  <a:cubicBezTo>
                    <a:pt x="12760" y="1402"/>
                    <a:pt x="12602" y="804"/>
                    <a:pt x="12130" y="583"/>
                  </a:cubicBezTo>
                  <a:lnTo>
                    <a:pt x="11437" y="142"/>
                  </a:lnTo>
                  <a:cubicBezTo>
                    <a:pt x="11277" y="46"/>
                    <a:pt x="11103" y="1"/>
                    <a:pt x="109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" name="Google Shape;290;p37"/>
            <p:cNvGrpSpPr/>
            <p:nvPr/>
          </p:nvGrpSpPr>
          <p:grpSpPr>
            <a:xfrm>
              <a:off x="7613593" y="3678470"/>
              <a:ext cx="391696" cy="280636"/>
              <a:chOff x="-60621600" y="4145650"/>
              <a:chExt cx="316650" cy="226850"/>
            </a:xfrm>
          </p:grpSpPr>
          <p:sp>
            <p:nvSpPr>
              <p:cNvPr id="291" name="Google Shape;291;p37"/>
              <p:cNvSpPr/>
              <p:nvPr/>
            </p:nvSpPr>
            <p:spPr>
              <a:xfrm>
                <a:off x="-60463275" y="4249600"/>
                <a:ext cx="61450" cy="60675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2427" extrusionOk="0">
                    <a:moveTo>
                      <a:pt x="1229" y="1"/>
                    </a:moveTo>
                    <a:cubicBezTo>
                      <a:pt x="567" y="1"/>
                      <a:pt x="0" y="536"/>
                      <a:pt x="0" y="1198"/>
                    </a:cubicBezTo>
                    <a:cubicBezTo>
                      <a:pt x="0" y="1891"/>
                      <a:pt x="567" y="2427"/>
                      <a:pt x="1229" y="2427"/>
                    </a:cubicBezTo>
                    <a:cubicBezTo>
                      <a:pt x="1891" y="2427"/>
                      <a:pt x="2458" y="1891"/>
                      <a:pt x="2458" y="1198"/>
                    </a:cubicBezTo>
                    <a:cubicBezTo>
                      <a:pt x="2458" y="536"/>
                      <a:pt x="1891" y="1"/>
                      <a:pt x="12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7"/>
              <p:cNvSpPr/>
              <p:nvPr/>
            </p:nvSpPr>
            <p:spPr>
              <a:xfrm>
                <a:off x="-60526300" y="4249600"/>
                <a:ext cx="48075" cy="606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2427" extrusionOk="0">
                    <a:moveTo>
                      <a:pt x="1261" y="1"/>
                    </a:moveTo>
                    <a:cubicBezTo>
                      <a:pt x="599" y="1"/>
                      <a:pt x="1" y="536"/>
                      <a:pt x="1" y="1198"/>
                    </a:cubicBezTo>
                    <a:cubicBezTo>
                      <a:pt x="1" y="1891"/>
                      <a:pt x="568" y="2427"/>
                      <a:pt x="1261" y="2427"/>
                    </a:cubicBezTo>
                    <a:cubicBezTo>
                      <a:pt x="1513" y="2427"/>
                      <a:pt x="1734" y="2364"/>
                      <a:pt x="1923" y="2238"/>
                    </a:cubicBezTo>
                    <a:cubicBezTo>
                      <a:pt x="1765" y="1923"/>
                      <a:pt x="1671" y="1576"/>
                      <a:pt x="1671" y="1198"/>
                    </a:cubicBezTo>
                    <a:cubicBezTo>
                      <a:pt x="1671" y="851"/>
                      <a:pt x="1765" y="505"/>
                      <a:pt x="1923" y="190"/>
                    </a:cubicBezTo>
                    <a:cubicBezTo>
                      <a:pt x="1734" y="64"/>
                      <a:pt x="1513" y="1"/>
                      <a:pt x="12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7"/>
              <p:cNvSpPr/>
              <p:nvPr/>
            </p:nvSpPr>
            <p:spPr>
              <a:xfrm>
                <a:off x="-60621600" y="4145650"/>
                <a:ext cx="316650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9074" extrusionOk="0">
                    <a:moveTo>
                      <a:pt x="11374" y="851"/>
                    </a:moveTo>
                    <a:cubicBezTo>
                      <a:pt x="11626" y="851"/>
                      <a:pt x="11815" y="1040"/>
                      <a:pt x="11815" y="1229"/>
                    </a:cubicBezTo>
                    <a:lnTo>
                      <a:pt x="11815" y="1670"/>
                    </a:lnTo>
                    <a:lnTo>
                      <a:pt x="788" y="1670"/>
                    </a:lnTo>
                    <a:lnTo>
                      <a:pt x="788" y="1229"/>
                    </a:lnTo>
                    <a:cubicBezTo>
                      <a:pt x="788" y="1008"/>
                      <a:pt x="977" y="851"/>
                      <a:pt x="1166" y="851"/>
                    </a:cubicBezTo>
                    <a:close/>
                    <a:moveTo>
                      <a:pt x="7562" y="3277"/>
                    </a:moveTo>
                    <a:cubicBezTo>
                      <a:pt x="8696" y="3277"/>
                      <a:pt x="9641" y="4222"/>
                      <a:pt x="9641" y="5356"/>
                    </a:cubicBezTo>
                    <a:cubicBezTo>
                      <a:pt x="9610" y="6522"/>
                      <a:pt x="8696" y="7467"/>
                      <a:pt x="7562" y="7467"/>
                    </a:cubicBezTo>
                    <a:cubicBezTo>
                      <a:pt x="7089" y="7467"/>
                      <a:pt x="6648" y="7309"/>
                      <a:pt x="6333" y="7026"/>
                    </a:cubicBezTo>
                    <a:cubicBezTo>
                      <a:pt x="5987" y="7309"/>
                      <a:pt x="5546" y="7467"/>
                      <a:pt x="5073" y="7467"/>
                    </a:cubicBezTo>
                    <a:cubicBezTo>
                      <a:pt x="3939" y="7467"/>
                      <a:pt x="2994" y="6522"/>
                      <a:pt x="2994" y="5356"/>
                    </a:cubicBezTo>
                    <a:cubicBezTo>
                      <a:pt x="2994" y="4222"/>
                      <a:pt x="3939" y="3277"/>
                      <a:pt x="5073" y="3277"/>
                    </a:cubicBezTo>
                    <a:cubicBezTo>
                      <a:pt x="5514" y="3277"/>
                      <a:pt x="5987" y="3434"/>
                      <a:pt x="6333" y="3718"/>
                    </a:cubicBezTo>
                    <a:cubicBezTo>
                      <a:pt x="6680" y="3434"/>
                      <a:pt x="7121" y="3277"/>
                      <a:pt x="7562" y="3277"/>
                    </a:cubicBezTo>
                    <a:close/>
                    <a:moveTo>
                      <a:pt x="1229" y="0"/>
                    </a:moveTo>
                    <a:cubicBezTo>
                      <a:pt x="536" y="0"/>
                      <a:pt x="1" y="567"/>
                      <a:pt x="1" y="1229"/>
                    </a:cubicBezTo>
                    <a:lnTo>
                      <a:pt x="1" y="7845"/>
                    </a:lnTo>
                    <a:cubicBezTo>
                      <a:pt x="1" y="8506"/>
                      <a:pt x="536" y="9073"/>
                      <a:pt x="1229" y="9073"/>
                    </a:cubicBezTo>
                    <a:lnTo>
                      <a:pt x="11406" y="9073"/>
                    </a:lnTo>
                    <a:cubicBezTo>
                      <a:pt x="12099" y="9073"/>
                      <a:pt x="12666" y="8506"/>
                      <a:pt x="12666" y="7845"/>
                    </a:cubicBezTo>
                    <a:lnTo>
                      <a:pt x="12666" y="1229"/>
                    </a:lnTo>
                    <a:cubicBezTo>
                      <a:pt x="12634" y="567"/>
                      <a:pt x="12099" y="0"/>
                      <a:pt x="11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4" name="Google Shape;294;p37"/>
            <p:cNvGrpSpPr/>
            <p:nvPr/>
          </p:nvGrpSpPr>
          <p:grpSpPr>
            <a:xfrm>
              <a:off x="7095753" y="3655651"/>
              <a:ext cx="351786" cy="326274"/>
              <a:chOff x="-62511900" y="4129100"/>
              <a:chExt cx="304050" cy="282000"/>
            </a:xfrm>
          </p:grpSpPr>
          <p:sp>
            <p:nvSpPr>
              <p:cNvPr id="295" name="Google Shape;295;p37"/>
              <p:cNvSpPr/>
              <p:nvPr/>
            </p:nvSpPr>
            <p:spPr>
              <a:xfrm>
                <a:off x="-62414225" y="4203925"/>
                <a:ext cx="206375" cy="207175"/>
              </a:xfrm>
              <a:custGeom>
                <a:avLst/>
                <a:gdLst/>
                <a:ahLst/>
                <a:cxnLst/>
                <a:rect l="l" t="t" r="r" b="b"/>
                <a:pathLst>
                  <a:path w="8255" h="8287" extrusionOk="0">
                    <a:moveTo>
                      <a:pt x="4128" y="1229"/>
                    </a:moveTo>
                    <a:cubicBezTo>
                      <a:pt x="4348" y="1229"/>
                      <a:pt x="4506" y="1418"/>
                      <a:pt x="4506" y="1670"/>
                    </a:cubicBezTo>
                    <a:lnTo>
                      <a:pt x="4506" y="1922"/>
                    </a:lnTo>
                    <a:cubicBezTo>
                      <a:pt x="4978" y="2080"/>
                      <a:pt x="5356" y="2552"/>
                      <a:pt x="5356" y="3119"/>
                    </a:cubicBezTo>
                    <a:cubicBezTo>
                      <a:pt x="5356" y="3340"/>
                      <a:pt x="5136" y="3498"/>
                      <a:pt x="4947" y="3498"/>
                    </a:cubicBezTo>
                    <a:cubicBezTo>
                      <a:pt x="4726" y="3498"/>
                      <a:pt x="4506" y="3308"/>
                      <a:pt x="4506" y="3119"/>
                    </a:cubicBezTo>
                    <a:cubicBezTo>
                      <a:pt x="4506" y="2867"/>
                      <a:pt x="4317" y="2710"/>
                      <a:pt x="4128" y="2710"/>
                    </a:cubicBezTo>
                    <a:cubicBezTo>
                      <a:pt x="3939" y="2710"/>
                      <a:pt x="3687" y="2930"/>
                      <a:pt x="3687" y="3119"/>
                    </a:cubicBezTo>
                    <a:cubicBezTo>
                      <a:pt x="3718" y="3340"/>
                      <a:pt x="4033" y="3592"/>
                      <a:pt x="4411" y="3813"/>
                    </a:cubicBezTo>
                    <a:cubicBezTo>
                      <a:pt x="4821" y="4128"/>
                      <a:pt x="5388" y="4537"/>
                      <a:pt x="5388" y="5199"/>
                    </a:cubicBezTo>
                    <a:cubicBezTo>
                      <a:pt x="5388" y="5766"/>
                      <a:pt x="5041" y="6175"/>
                      <a:pt x="4569" y="6396"/>
                    </a:cubicBezTo>
                    <a:lnTo>
                      <a:pt x="4569" y="6648"/>
                    </a:lnTo>
                    <a:cubicBezTo>
                      <a:pt x="4569" y="6900"/>
                      <a:pt x="4348" y="7089"/>
                      <a:pt x="4159" y="7089"/>
                    </a:cubicBezTo>
                    <a:cubicBezTo>
                      <a:pt x="3970" y="7089"/>
                      <a:pt x="3718" y="6900"/>
                      <a:pt x="3718" y="6648"/>
                    </a:cubicBezTo>
                    <a:lnTo>
                      <a:pt x="3718" y="6396"/>
                    </a:lnTo>
                    <a:cubicBezTo>
                      <a:pt x="3245" y="6238"/>
                      <a:pt x="2899" y="5766"/>
                      <a:pt x="2899" y="5199"/>
                    </a:cubicBezTo>
                    <a:cubicBezTo>
                      <a:pt x="2899" y="4978"/>
                      <a:pt x="3088" y="4821"/>
                      <a:pt x="3308" y="4821"/>
                    </a:cubicBezTo>
                    <a:cubicBezTo>
                      <a:pt x="3498" y="4821"/>
                      <a:pt x="3687" y="5010"/>
                      <a:pt x="3687" y="5199"/>
                    </a:cubicBezTo>
                    <a:cubicBezTo>
                      <a:pt x="3687" y="5451"/>
                      <a:pt x="3876" y="5608"/>
                      <a:pt x="4128" y="5608"/>
                    </a:cubicBezTo>
                    <a:cubicBezTo>
                      <a:pt x="4348" y="5608"/>
                      <a:pt x="4506" y="5388"/>
                      <a:pt x="4506" y="5199"/>
                    </a:cubicBezTo>
                    <a:cubicBezTo>
                      <a:pt x="4506" y="4978"/>
                      <a:pt x="4191" y="4726"/>
                      <a:pt x="3844" y="4506"/>
                    </a:cubicBezTo>
                    <a:cubicBezTo>
                      <a:pt x="3403" y="4191"/>
                      <a:pt x="2867" y="3781"/>
                      <a:pt x="2867" y="3119"/>
                    </a:cubicBezTo>
                    <a:cubicBezTo>
                      <a:pt x="2867" y="2552"/>
                      <a:pt x="3214" y="2143"/>
                      <a:pt x="3687" y="1922"/>
                    </a:cubicBezTo>
                    <a:lnTo>
                      <a:pt x="3687" y="1670"/>
                    </a:lnTo>
                    <a:cubicBezTo>
                      <a:pt x="3687" y="1418"/>
                      <a:pt x="3876" y="1229"/>
                      <a:pt x="4128" y="1229"/>
                    </a:cubicBezTo>
                    <a:close/>
                    <a:moveTo>
                      <a:pt x="4128" y="0"/>
                    </a:moveTo>
                    <a:cubicBezTo>
                      <a:pt x="1828" y="0"/>
                      <a:pt x="0" y="1859"/>
                      <a:pt x="0" y="4128"/>
                    </a:cubicBezTo>
                    <a:cubicBezTo>
                      <a:pt x="0" y="6427"/>
                      <a:pt x="1828" y="8286"/>
                      <a:pt x="4128" y="8286"/>
                    </a:cubicBezTo>
                    <a:cubicBezTo>
                      <a:pt x="6396" y="8286"/>
                      <a:pt x="8255" y="6427"/>
                      <a:pt x="8255" y="4128"/>
                    </a:cubicBezTo>
                    <a:cubicBezTo>
                      <a:pt x="8255" y="1859"/>
                      <a:pt x="6396" y="0"/>
                      <a:pt x="41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7"/>
              <p:cNvSpPr/>
              <p:nvPr/>
            </p:nvSpPr>
            <p:spPr>
              <a:xfrm>
                <a:off x="-62511100" y="4129100"/>
                <a:ext cx="159900" cy="74850"/>
              </a:xfrm>
              <a:custGeom>
                <a:avLst/>
                <a:gdLst/>
                <a:ahLst/>
                <a:cxnLst/>
                <a:rect l="l" t="t" r="r" b="b"/>
                <a:pathLst>
                  <a:path w="6396" h="2994" extrusionOk="0">
                    <a:moveTo>
                      <a:pt x="3214" y="1"/>
                    </a:moveTo>
                    <a:cubicBezTo>
                      <a:pt x="1450" y="1"/>
                      <a:pt x="0" y="662"/>
                      <a:pt x="0" y="1513"/>
                    </a:cubicBezTo>
                    <a:cubicBezTo>
                      <a:pt x="0" y="2332"/>
                      <a:pt x="1450" y="2993"/>
                      <a:pt x="3214" y="2993"/>
                    </a:cubicBezTo>
                    <a:cubicBezTo>
                      <a:pt x="4947" y="2993"/>
                      <a:pt x="6396" y="2332"/>
                      <a:pt x="6396" y="1513"/>
                    </a:cubicBezTo>
                    <a:cubicBezTo>
                      <a:pt x="6396" y="662"/>
                      <a:pt x="4947" y="1"/>
                      <a:pt x="32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37"/>
              <p:cNvSpPr/>
              <p:nvPr/>
            </p:nvSpPr>
            <p:spPr>
              <a:xfrm>
                <a:off x="-62511100" y="4207075"/>
                <a:ext cx="11027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2395" extrusionOk="0">
                    <a:moveTo>
                      <a:pt x="0" y="0"/>
                    </a:moveTo>
                    <a:lnTo>
                      <a:pt x="0" y="1135"/>
                    </a:lnTo>
                    <a:cubicBezTo>
                      <a:pt x="0" y="1450"/>
                      <a:pt x="347" y="1765"/>
                      <a:pt x="882" y="2017"/>
                    </a:cubicBezTo>
                    <a:cubicBezTo>
                      <a:pt x="1355" y="2237"/>
                      <a:pt x="2332" y="2395"/>
                      <a:pt x="3151" y="2395"/>
                    </a:cubicBezTo>
                    <a:lnTo>
                      <a:pt x="3308" y="2395"/>
                    </a:lnTo>
                    <a:cubicBezTo>
                      <a:pt x="3560" y="1733"/>
                      <a:pt x="3907" y="1135"/>
                      <a:pt x="4411" y="631"/>
                    </a:cubicBezTo>
                    <a:lnTo>
                      <a:pt x="4411" y="631"/>
                    </a:lnTo>
                    <a:cubicBezTo>
                      <a:pt x="4033" y="694"/>
                      <a:pt x="3623" y="757"/>
                      <a:pt x="3182" y="757"/>
                    </a:cubicBezTo>
                    <a:cubicBezTo>
                      <a:pt x="2363" y="757"/>
                      <a:pt x="1261" y="599"/>
                      <a:pt x="567" y="316"/>
                    </a:cubicBezTo>
                    <a:cubicBezTo>
                      <a:pt x="347" y="221"/>
                      <a:pt x="158" y="12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7"/>
              <p:cNvSpPr/>
              <p:nvPr/>
            </p:nvSpPr>
            <p:spPr>
              <a:xfrm>
                <a:off x="-62511100" y="4329950"/>
                <a:ext cx="106350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2395" extrusionOk="0">
                    <a:moveTo>
                      <a:pt x="0" y="0"/>
                    </a:moveTo>
                    <a:lnTo>
                      <a:pt x="0" y="1197"/>
                    </a:lnTo>
                    <a:cubicBezTo>
                      <a:pt x="0" y="1701"/>
                      <a:pt x="1355" y="2395"/>
                      <a:pt x="3182" y="2395"/>
                    </a:cubicBezTo>
                    <a:cubicBezTo>
                      <a:pt x="3560" y="2395"/>
                      <a:pt x="3907" y="2363"/>
                      <a:pt x="4254" y="2332"/>
                    </a:cubicBezTo>
                    <a:cubicBezTo>
                      <a:pt x="3875" y="1859"/>
                      <a:pt x="3560" y="1355"/>
                      <a:pt x="3340" y="756"/>
                    </a:cubicBezTo>
                    <a:lnTo>
                      <a:pt x="3182" y="756"/>
                    </a:lnTo>
                    <a:cubicBezTo>
                      <a:pt x="2363" y="756"/>
                      <a:pt x="1261" y="599"/>
                      <a:pt x="567" y="315"/>
                    </a:cubicBezTo>
                    <a:cubicBezTo>
                      <a:pt x="347" y="252"/>
                      <a:pt x="158" y="12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7"/>
              <p:cNvSpPr/>
              <p:nvPr/>
            </p:nvSpPr>
            <p:spPr>
              <a:xfrm>
                <a:off x="-62511900" y="4268500"/>
                <a:ext cx="78000" cy="60675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427" extrusionOk="0">
                    <a:moveTo>
                      <a:pt x="1" y="1"/>
                    </a:moveTo>
                    <a:lnTo>
                      <a:pt x="1" y="1167"/>
                    </a:lnTo>
                    <a:lnTo>
                      <a:pt x="32" y="1167"/>
                    </a:lnTo>
                    <a:cubicBezTo>
                      <a:pt x="32" y="1482"/>
                      <a:pt x="379" y="1797"/>
                      <a:pt x="914" y="2017"/>
                    </a:cubicBezTo>
                    <a:cubicBezTo>
                      <a:pt x="1387" y="2238"/>
                      <a:pt x="2332" y="2395"/>
                      <a:pt x="3120" y="2427"/>
                    </a:cubicBezTo>
                    <a:cubicBezTo>
                      <a:pt x="3057" y="2143"/>
                      <a:pt x="3025" y="1860"/>
                      <a:pt x="3025" y="1608"/>
                    </a:cubicBezTo>
                    <a:cubicBezTo>
                      <a:pt x="3025" y="1324"/>
                      <a:pt x="3088" y="1041"/>
                      <a:pt x="3120" y="757"/>
                    </a:cubicBezTo>
                    <a:cubicBezTo>
                      <a:pt x="2332" y="757"/>
                      <a:pt x="1230" y="599"/>
                      <a:pt x="536" y="316"/>
                    </a:cubicBezTo>
                    <a:cubicBezTo>
                      <a:pt x="347" y="253"/>
                      <a:pt x="158" y="127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0" name="Google Shape;300;p37"/>
            <p:cNvGrpSpPr/>
            <p:nvPr/>
          </p:nvGrpSpPr>
          <p:grpSpPr>
            <a:xfrm>
              <a:off x="7612843" y="3085277"/>
              <a:ext cx="366364" cy="367290"/>
              <a:chOff x="-61783350" y="3743950"/>
              <a:chExt cx="316650" cy="317450"/>
            </a:xfrm>
          </p:grpSpPr>
          <p:sp>
            <p:nvSpPr>
              <p:cNvPr id="301" name="Google Shape;301;p37"/>
              <p:cNvSpPr/>
              <p:nvPr/>
            </p:nvSpPr>
            <p:spPr>
              <a:xfrm>
                <a:off x="-61783350" y="3743950"/>
                <a:ext cx="316650" cy="31745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698" extrusionOk="0">
                    <a:moveTo>
                      <a:pt x="379" y="1"/>
                    </a:moveTo>
                    <a:cubicBezTo>
                      <a:pt x="158" y="1"/>
                      <a:pt x="1" y="190"/>
                      <a:pt x="1" y="410"/>
                    </a:cubicBezTo>
                    <a:lnTo>
                      <a:pt x="1" y="12256"/>
                    </a:lnTo>
                    <a:cubicBezTo>
                      <a:pt x="1" y="12508"/>
                      <a:pt x="190" y="12697"/>
                      <a:pt x="379" y="12697"/>
                    </a:cubicBezTo>
                    <a:lnTo>
                      <a:pt x="12256" y="12697"/>
                    </a:lnTo>
                    <a:cubicBezTo>
                      <a:pt x="12477" y="12697"/>
                      <a:pt x="12666" y="12508"/>
                      <a:pt x="12666" y="12256"/>
                    </a:cubicBezTo>
                    <a:cubicBezTo>
                      <a:pt x="12634" y="12067"/>
                      <a:pt x="12477" y="11878"/>
                      <a:pt x="12256" y="11878"/>
                    </a:cubicBezTo>
                    <a:lnTo>
                      <a:pt x="820" y="11878"/>
                    </a:lnTo>
                    <a:lnTo>
                      <a:pt x="820" y="410"/>
                    </a:lnTo>
                    <a:cubicBezTo>
                      <a:pt x="820" y="158"/>
                      <a:pt x="631" y="1"/>
                      <a:pt x="3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7"/>
              <p:cNvSpPr/>
              <p:nvPr/>
            </p:nvSpPr>
            <p:spPr>
              <a:xfrm>
                <a:off x="-61739225" y="3833750"/>
                <a:ext cx="272525" cy="149675"/>
              </a:xfrm>
              <a:custGeom>
                <a:avLst/>
                <a:gdLst/>
                <a:ahLst/>
                <a:cxnLst/>
                <a:rect l="l" t="t" r="r" b="b"/>
                <a:pathLst>
                  <a:path w="10901" h="5987" extrusionOk="0">
                    <a:moveTo>
                      <a:pt x="9641" y="0"/>
                    </a:moveTo>
                    <a:cubicBezTo>
                      <a:pt x="8979" y="0"/>
                      <a:pt x="8444" y="536"/>
                      <a:pt x="8444" y="1229"/>
                    </a:cubicBezTo>
                    <a:cubicBezTo>
                      <a:pt x="8444" y="1418"/>
                      <a:pt x="8475" y="1575"/>
                      <a:pt x="8538" y="1733"/>
                    </a:cubicBezTo>
                    <a:lnTo>
                      <a:pt x="6900" y="3403"/>
                    </a:lnTo>
                    <a:cubicBezTo>
                      <a:pt x="6742" y="3308"/>
                      <a:pt x="6553" y="3277"/>
                      <a:pt x="6396" y="3277"/>
                    </a:cubicBezTo>
                    <a:cubicBezTo>
                      <a:pt x="6238" y="3277"/>
                      <a:pt x="6018" y="3308"/>
                      <a:pt x="5860" y="3403"/>
                    </a:cubicBezTo>
                    <a:lnTo>
                      <a:pt x="5041" y="2552"/>
                    </a:lnTo>
                    <a:cubicBezTo>
                      <a:pt x="5136" y="2395"/>
                      <a:pt x="5167" y="2206"/>
                      <a:pt x="5167" y="2048"/>
                    </a:cubicBezTo>
                    <a:cubicBezTo>
                      <a:pt x="5167" y="1386"/>
                      <a:pt x="4600" y="819"/>
                      <a:pt x="3938" y="819"/>
                    </a:cubicBezTo>
                    <a:cubicBezTo>
                      <a:pt x="3277" y="819"/>
                      <a:pt x="2710" y="1386"/>
                      <a:pt x="2710" y="2048"/>
                    </a:cubicBezTo>
                    <a:cubicBezTo>
                      <a:pt x="2710" y="2237"/>
                      <a:pt x="2773" y="2395"/>
                      <a:pt x="2836" y="2552"/>
                    </a:cubicBezTo>
                    <a:lnTo>
                      <a:pt x="1733" y="3655"/>
                    </a:lnTo>
                    <a:cubicBezTo>
                      <a:pt x="1575" y="3592"/>
                      <a:pt x="1386" y="3560"/>
                      <a:pt x="1229" y="3560"/>
                    </a:cubicBezTo>
                    <a:cubicBezTo>
                      <a:pt x="567" y="3560"/>
                      <a:pt x="0" y="4096"/>
                      <a:pt x="0" y="4757"/>
                    </a:cubicBezTo>
                    <a:cubicBezTo>
                      <a:pt x="0" y="5451"/>
                      <a:pt x="567" y="5986"/>
                      <a:pt x="1229" y="5986"/>
                    </a:cubicBezTo>
                    <a:cubicBezTo>
                      <a:pt x="1891" y="5986"/>
                      <a:pt x="2458" y="5451"/>
                      <a:pt x="2458" y="4757"/>
                    </a:cubicBezTo>
                    <a:cubicBezTo>
                      <a:pt x="2458" y="4568"/>
                      <a:pt x="2395" y="4411"/>
                      <a:pt x="2332" y="4253"/>
                    </a:cubicBezTo>
                    <a:lnTo>
                      <a:pt x="3434" y="3151"/>
                    </a:lnTo>
                    <a:cubicBezTo>
                      <a:pt x="3592" y="3214"/>
                      <a:pt x="3781" y="3277"/>
                      <a:pt x="3938" y="3277"/>
                    </a:cubicBezTo>
                    <a:cubicBezTo>
                      <a:pt x="4096" y="3277"/>
                      <a:pt x="4285" y="3214"/>
                      <a:pt x="4442" y="3151"/>
                    </a:cubicBezTo>
                    <a:lnTo>
                      <a:pt x="5293" y="3970"/>
                    </a:lnTo>
                    <a:cubicBezTo>
                      <a:pt x="5199" y="4127"/>
                      <a:pt x="5167" y="4348"/>
                      <a:pt x="5167" y="4505"/>
                    </a:cubicBezTo>
                    <a:cubicBezTo>
                      <a:pt x="5167" y="5167"/>
                      <a:pt x="5703" y="5703"/>
                      <a:pt x="6396" y="5703"/>
                    </a:cubicBezTo>
                    <a:cubicBezTo>
                      <a:pt x="7057" y="5703"/>
                      <a:pt x="7593" y="5167"/>
                      <a:pt x="7593" y="4505"/>
                    </a:cubicBezTo>
                    <a:cubicBezTo>
                      <a:pt x="7593" y="4285"/>
                      <a:pt x="7561" y="4127"/>
                      <a:pt x="7498" y="3970"/>
                    </a:cubicBezTo>
                    <a:lnTo>
                      <a:pt x="9137" y="2332"/>
                    </a:lnTo>
                    <a:cubicBezTo>
                      <a:pt x="9294" y="2395"/>
                      <a:pt x="9483" y="2458"/>
                      <a:pt x="9641" y="2458"/>
                    </a:cubicBezTo>
                    <a:cubicBezTo>
                      <a:pt x="10334" y="2458"/>
                      <a:pt x="10901" y="1890"/>
                      <a:pt x="10901" y="1229"/>
                    </a:cubicBezTo>
                    <a:cubicBezTo>
                      <a:pt x="10901" y="536"/>
                      <a:pt x="10334" y="0"/>
                      <a:pt x="96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3" name="Google Shape;303;p37"/>
            <p:cNvGrpSpPr/>
            <p:nvPr/>
          </p:nvGrpSpPr>
          <p:grpSpPr>
            <a:xfrm>
              <a:off x="6562244" y="3085740"/>
              <a:ext cx="368186" cy="366364"/>
              <a:chOff x="-62151950" y="4111775"/>
              <a:chExt cx="318225" cy="316650"/>
            </a:xfrm>
          </p:grpSpPr>
          <p:sp>
            <p:nvSpPr>
              <p:cNvPr id="304" name="Google Shape;304;p37"/>
              <p:cNvSpPr/>
              <p:nvPr/>
            </p:nvSpPr>
            <p:spPr>
              <a:xfrm>
                <a:off x="-62151950" y="4407925"/>
                <a:ext cx="31822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2729" h="820" extrusionOk="0">
                    <a:moveTo>
                      <a:pt x="442" y="0"/>
                    </a:moveTo>
                    <a:cubicBezTo>
                      <a:pt x="221" y="0"/>
                      <a:pt x="1" y="189"/>
                      <a:pt x="1" y="441"/>
                    </a:cubicBezTo>
                    <a:cubicBezTo>
                      <a:pt x="1" y="662"/>
                      <a:pt x="221" y="819"/>
                      <a:pt x="442" y="819"/>
                    </a:cubicBezTo>
                    <a:lnTo>
                      <a:pt x="12288" y="819"/>
                    </a:lnTo>
                    <a:cubicBezTo>
                      <a:pt x="12540" y="819"/>
                      <a:pt x="12697" y="630"/>
                      <a:pt x="12697" y="441"/>
                    </a:cubicBezTo>
                    <a:cubicBezTo>
                      <a:pt x="12729" y="158"/>
                      <a:pt x="12540" y="0"/>
                      <a:pt x="122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7"/>
              <p:cNvSpPr/>
              <p:nvPr/>
            </p:nvSpPr>
            <p:spPr>
              <a:xfrm>
                <a:off x="-62151950" y="4283475"/>
                <a:ext cx="8430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4160" extrusionOk="0">
                    <a:moveTo>
                      <a:pt x="1009" y="0"/>
                    </a:moveTo>
                    <a:cubicBezTo>
                      <a:pt x="442" y="0"/>
                      <a:pt x="1" y="442"/>
                      <a:pt x="1" y="1009"/>
                    </a:cubicBezTo>
                    <a:lnTo>
                      <a:pt x="1" y="3214"/>
                    </a:lnTo>
                    <a:cubicBezTo>
                      <a:pt x="64" y="3718"/>
                      <a:pt x="473" y="4159"/>
                      <a:pt x="1009" y="4159"/>
                    </a:cubicBezTo>
                    <a:lnTo>
                      <a:pt x="2363" y="4159"/>
                    </a:lnTo>
                    <a:cubicBezTo>
                      <a:pt x="2931" y="4159"/>
                      <a:pt x="3372" y="3718"/>
                      <a:pt x="3372" y="3214"/>
                    </a:cubicBezTo>
                    <a:lnTo>
                      <a:pt x="3372" y="1009"/>
                    </a:lnTo>
                    <a:cubicBezTo>
                      <a:pt x="3372" y="442"/>
                      <a:pt x="2931" y="0"/>
                      <a:pt x="23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7"/>
              <p:cNvSpPr/>
              <p:nvPr/>
            </p:nvSpPr>
            <p:spPr>
              <a:xfrm>
                <a:off x="-62033800" y="4111775"/>
                <a:ext cx="82725" cy="275700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11028" extrusionOk="0">
                    <a:moveTo>
                      <a:pt x="946" y="0"/>
                    </a:moveTo>
                    <a:cubicBezTo>
                      <a:pt x="410" y="0"/>
                      <a:pt x="0" y="410"/>
                      <a:pt x="0" y="977"/>
                    </a:cubicBezTo>
                    <a:lnTo>
                      <a:pt x="0" y="10082"/>
                    </a:lnTo>
                    <a:cubicBezTo>
                      <a:pt x="0" y="10618"/>
                      <a:pt x="441" y="11027"/>
                      <a:pt x="946" y="11027"/>
                    </a:cubicBezTo>
                    <a:lnTo>
                      <a:pt x="2332" y="11027"/>
                    </a:lnTo>
                    <a:cubicBezTo>
                      <a:pt x="2899" y="11027"/>
                      <a:pt x="3308" y="10586"/>
                      <a:pt x="3308" y="10082"/>
                    </a:cubicBezTo>
                    <a:lnTo>
                      <a:pt x="3308" y="977"/>
                    </a:lnTo>
                    <a:cubicBezTo>
                      <a:pt x="3308" y="410"/>
                      <a:pt x="2899" y="0"/>
                      <a:pt x="23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7"/>
              <p:cNvSpPr/>
              <p:nvPr/>
            </p:nvSpPr>
            <p:spPr>
              <a:xfrm>
                <a:off x="-61916450" y="4200775"/>
                <a:ext cx="82725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7468" extrusionOk="0">
                    <a:moveTo>
                      <a:pt x="946" y="0"/>
                    </a:moveTo>
                    <a:cubicBezTo>
                      <a:pt x="410" y="0"/>
                      <a:pt x="1" y="442"/>
                      <a:pt x="1" y="1009"/>
                    </a:cubicBezTo>
                    <a:lnTo>
                      <a:pt x="1" y="6522"/>
                    </a:lnTo>
                    <a:cubicBezTo>
                      <a:pt x="1" y="7058"/>
                      <a:pt x="442" y="7467"/>
                      <a:pt x="946" y="7467"/>
                    </a:cubicBezTo>
                    <a:lnTo>
                      <a:pt x="2332" y="7467"/>
                    </a:lnTo>
                    <a:cubicBezTo>
                      <a:pt x="2868" y="7467"/>
                      <a:pt x="3309" y="7026"/>
                      <a:pt x="3309" y="6522"/>
                    </a:cubicBezTo>
                    <a:lnTo>
                      <a:pt x="3309" y="1009"/>
                    </a:lnTo>
                    <a:cubicBezTo>
                      <a:pt x="3309" y="442"/>
                      <a:pt x="2868" y="0"/>
                      <a:pt x="23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8" name="Google Shape;308;p37"/>
            <p:cNvGrpSpPr/>
            <p:nvPr/>
          </p:nvGrpSpPr>
          <p:grpSpPr>
            <a:xfrm>
              <a:off x="7088017" y="3085292"/>
              <a:ext cx="367261" cy="367261"/>
              <a:chOff x="-65145700" y="3727425"/>
              <a:chExt cx="317425" cy="317425"/>
            </a:xfrm>
          </p:grpSpPr>
          <p:sp>
            <p:nvSpPr>
              <p:cNvPr id="309" name="Google Shape;309;p37"/>
              <p:cNvSpPr/>
              <p:nvPr/>
            </p:nvSpPr>
            <p:spPr>
              <a:xfrm>
                <a:off x="-65145700" y="3769150"/>
                <a:ext cx="275675" cy="275700"/>
              </a:xfrm>
              <a:custGeom>
                <a:avLst/>
                <a:gdLst/>
                <a:ahLst/>
                <a:cxnLst/>
                <a:rect l="l" t="t" r="r" b="b"/>
                <a:pathLst>
                  <a:path w="11027" h="11028" extrusionOk="0">
                    <a:moveTo>
                      <a:pt x="5514" y="1"/>
                    </a:moveTo>
                    <a:cubicBezTo>
                      <a:pt x="2489" y="1"/>
                      <a:pt x="0" y="2458"/>
                      <a:pt x="0" y="5514"/>
                    </a:cubicBezTo>
                    <a:cubicBezTo>
                      <a:pt x="0" y="8539"/>
                      <a:pt x="2489" y="11027"/>
                      <a:pt x="5514" y="11027"/>
                    </a:cubicBezTo>
                    <a:cubicBezTo>
                      <a:pt x="8538" y="11027"/>
                      <a:pt x="11027" y="8539"/>
                      <a:pt x="11027" y="5514"/>
                    </a:cubicBezTo>
                    <a:cubicBezTo>
                      <a:pt x="11027" y="5294"/>
                      <a:pt x="10869" y="5105"/>
                      <a:pt x="10649" y="5105"/>
                    </a:cubicBezTo>
                    <a:lnTo>
                      <a:pt x="5955" y="5105"/>
                    </a:lnTo>
                    <a:lnTo>
                      <a:pt x="5955" y="410"/>
                    </a:lnTo>
                    <a:cubicBezTo>
                      <a:pt x="5955" y="190"/>
                      <a:pt x="5766" y="1"/>
                      <a:pt x="55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7"/>
              <p:cNvSpPr/>
              <p:nvPr/>
            </p:nvSpPr>
            <p:spPr>
              <a:xfrm>
                <a:off x="-64977150" y="3727425"/>
                <a:ext cx="148875" cy="147300"/>
              </a:xfrm>
              <a:custGeom>
                <a:avLst/>
                <a:gdLst/>
                <a:ahLst/>
                <a:cxnLst/>
                <a:rect l="l" t="t" r="r" b="b"/>
                <a:pathLst>
                  <a:path w="5955" h="5892" extrusionOk="0">
                    <a:moveTo>
                      <a:pt x="441" y="0"/>
                    </a:moveTo>
                    <a:cubicBezTo>
                      <a:pt x="189" y="0"/>
                      <a:pt x="0" y="158"/>
                      <a:pt x="0" y="378"/>
                    </a:cubicBezTo>
                    <a:lnTo>
                      <a:pt x="0" y="5513"/>
                    </a:lnTo>
                    <a:cubicBezTo>
                      <a:pt x="0" y="5702"/>
                      <a:pt x="189" y="5891"/>
                      <a:pt x="441" y="5891"/>
                    </a:cubicBezTo>
                    <a:lnTo>
                      <a:pt x="5514" y="5891"/>
                    </a:lnTo>
                    <a:cubicBezTo>
                      <a:pt x="5734" y="5891"/>
                      <a:pt x="5955" y="5702"/>
                      <a:pt x="5955" y="5513"/>
                    </a:cubicBezTo>
                    <a:cubicBezTo>
                      <a:pt x="5955" y="2489"/>
                      <a:pt x="3466" y="0"/>
                      <a:pt x="4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1" name="Google Shape;311;p37"/>
            <p:cNvSpPr/>
            <p:nvPr/>
          </p:nvSpPr>
          <p:spPr>
            <a:xfrm>
              <a:off x="6084772" y="3085190"/>
              <a:ext cx="319882" cy="367463"/>
            </a:xfrm>
            <a:custGeom>
              <a:avLst/>
              <a:gdLst/>
              <a:ahLst/>
              <a:cxnLst/>
              <a:rect l="l" t="t" r="r" b="b"/>
              <a:pathLst>
                <a:path w="11059" h="12704" extrusionOk="0">
                  <a:moveTo>
                    <a:pt x="5545" y="3449"/>
                  </a:moveTo>
                  <a:cubicBezTo>
                    <a:pt x="5797" y="3449"/>
                    <a:pt x="5955" y="3638"/>
                    <a:pt x="5955" y="3859"/>
                  </a:cubicBezTo>
                  <a:lnTo>
                    <a:pt x="5955" y="4111"/>
                  </a:lnTo>
                  <a:cubicBezTo>
                    <a:pt x="6427" y="4268"/>
                    <a:pt x="6774" y="4741"/>
                    <a:pt x="6774" y="5308"/>
                  </a:cubicBezTo>
                  <a:cubicBezTo>
                    <a:pt x="6774" y="5528"/>
                    <a:pt x="6585" y="5749"/>
                    <a:pt x="6333" y="5749"/>
                  </a:cubicBezTo>
                  <a:cubicBezTo>
                    <a:pt x="6081" y="5749"/>
                    <a:pt x="5955" y="5528"/>
                    <a:pt x="5955" y="5308"/>
                  </a:cubicBezTo>
                  <a:cubicBezTo>
                    <a:pt x="5955" y="5056"/>
                    <a:pt x="5734" y="4898"/>
                    <a:pt x="5545" y="4898"/>
                  </a:cubicBezTo>
                  <a:cubicBezTo>
                    <a:pt x="5293" y="4898"/>
                    <a:pt x="5104" y="5119"/>
                    <a:pt x="5104" y="5308"/>
                  </a:cubicBezTo>
                  <a:cubicBezTo>
                    <a:pt x="5104" y="5528"/>
                    <a:pt x="5419" y="5780"/>
                    <a:pt x="5766" y="6001"/>
                  </a:cubicBezTo>
                  <a:cubicBezTo>
                    <a:pt x="6207" y="6316"/>
                    <a:pt x="6774" y="6725"/>
                    <a:pt x="6774" y="7387"/>
                  </a:cubicBezTo>
                  <a:cubicBezTo>
                    <a:pt x="6774" y="7954"/>
                    <a:pt x="6427" y="8364"/>
                    <a:pt x="5923" y="8584"/>
                  </a:cubicBezTo>
                  <a:lnTo>
                    <a:pt x="5923" y="8836"/>
                  </a:lnTo>
                  <a:cubicBezTo>
                    <a:pt x="5923" y="9088"/>
                    <a:pt x="5734" y="9246"/>
                    <a:pt x="5545" y="9246"/>
                  </a:cubicBezTo>
                  <a:cubicBezTo>
                    <a:pt x="5293" y="9246"/>
                    <a:pt x="5104" y="9057"/>
                    <a:pt x="5104" y="8836"/>
                  </a:cubicBezTo>
                  <a:lnTo>
                    <a:pt x="5104" y="8584"/>
                  </a:lnTo>
                  <a:cubicBezTo>
                    <a:pt x="4632" y="8427"/>
                    <a:pt x="4285" y="7954"/>
                    <a:pt x="4285" y="7387"/>
                  </a:cubicBezTo>
                  <a:cubicBezTo>
                    <a:pt x="4285" y="7167"/>
                    <a:pt x="4474" y="7009"/>
                    <a:pt x="4726" y="7009"/>
                  </a:cubicBezTo>
                  <a:cubicBezTo>
                    <a:pt x="4947" y="7009"/>
                    <a:pt x="5104" y="7198"/>
                    <a:pt x="5104" y="7387"/>
                  </a:cubicBezTo>
                  <a:cubicBezTo>
                    <a:pt x="5104" y="7639"/>
                    <a:pt x="5293" y="7828"/>
                    <a:pt x="5545" y="7828"/>
                  </a:cubicBezTo>
                  <a:cubicBezTo>
                    <a:pt x="5766" y="7828"/>
                    <a:pt x="5923" y="7639"/>
                    <a:pt x="5923" y="7387"/>
                  </a:cubicBezTo>
                  <a:cubicBezTo>
                    <a:pt x="5923" y="7167"/>
                    <a:pt x="5608" y="6914"/>
                    <a:pt x="5262" y="6694"/>
                  </a:cubicBezTo>
                  <a:cubicBezTo>
                    <a:pt x="4821" y="6379"/>
                    <a:pt x="4285" y="5969"/>
                    <a:pt x="4285" y="5308"/>
                  </a:cubicBezTo>
                  <a:cubicBezTo>
                    <a:pt x="4285" y="4741"/>
                    <a:pt x="4632" y="4331"/>
                    <a:pt x="5104" y="4111"/>
                  </a:cubicBezTo>
                  <a:lnTo>
                    <a:pt x="5104" y="3859"/>
                  </a:lnTo>
                  <a:cubicBezTo>
                    <a:pt x="5104" y="3606"/>
                    <a:pt x="5293" y="3449"/>
                    <a:pt x="5545" y="3449"/>
                  </a:cubicBezTo>
                  <a:close/>
                  <a:moveTo>
                    <a:pt x="10651" y="1"/>
                  </a:moveTo>
                  <a:cubicBezTo>
                    <a:pt x="10562" y="1"/>
                    <a:pt x="10473" y="34"/>
                    <a:pt x="10397" y="109"/>
                  </a:cubicBezTo>
                  <a:cubicBezTo>
                    <a:pt x="9389" y="834"/>
                    <a:pt x="8538" y="960"/>
                    <a:pt x="8034" y="960"/>
                  </a:cubicBezTo>
                  <a:cubicBezTo>
                    <a:pt x="7310" y="960"/>
                    <a:pt x="6396" y="645"/>
                    <a:pt x="5766" y="172"/>
                  </a:cubicBezTo>
                  <a:cubicBezTo>
                    <a:pt x="5703" y="109"/>
                    <a:pt x="5616" y="78"/>
                    <a:pt x="5526" y="78"/>
                  </a:cubicBezTo>
                  <a:cubicBezTo>
                    <a:pt x="5435" y="78"/>
                    <a:pt x="5341" y="109"/>
                    <a:pt x="5262" y="172"/>
                  </a:cubicBezTo>
                  <a:cubicBezTo>
                    <a:pt x="4632" y="645"/>
                    <a:pt x="3781" y="960"/>
                    <a:pt x="3025" y="960"/>
                  </a:cubicBezTo>
                  <a:cubicBezTo>
                    <a:pt x="2237" y="960"/>
                    <a:pt x="1418" y="645"/>
                    <a:pt x="662" y="109"/>
                  </a:cubicBezTo>
                  <a:cubicBezTo>
                    <a:pt x="582" y="47"/>
                    <a:pt x="495" y="20"/>
                    <a:pt x="411" y="20"/>
                  </a:cubicBezTo>
                  <a:cubicBezTo>
                    <a:pt x="196" y="20"/>
                    <a:pt x="0" y="198"/>
                    <a:pt x="0" y="424"/>
                  </a:cubicBezTo>
                  <a:lnTo>
                    <a:pt x="0" y="5276"/>
                  </a:lnTo>
                  <a:cubicBezTo>
                    <a:pt x="0" y="8616"/>
                    <a:pt x="2143" y="11609"/>
                    <a:pt x="5388" y="12680"/>
                  </a:cubicBezTo>
                  <a:cubicBezTo>
                    <a:pt x="5419" y="12696"/>
                    <a:pt x="5459" y="12703"/>
                    <a:pt x="5506" y="12703"/>
                  </a:cubicBezTo>
                  <a:cubicBezTo>
                    <a:pt x="5553" y="12703"/>
                    <a:pt x="5608" y="12696"/>
                    <a:pt x="5671" y="12680"/>
                  </a:cubicBezTo>
                  <a:cubicBezTo>
                    <a:pt x="8885" y="11609"/>
                    <a:pt x="11059" y="8616"/>
                    <a:pt x="11059" y="5276"/>
                  </a:cubicBezTo>
                  <a:lnTo>
                    <a:pt x="11059" y="424"/>
                  </a:lnTo>
                  <a:cubicBezTo>
                    <a:pt x="11059" y="182"/>
                    <a:pt x="10858" y="1"/>
                    <a:pt x="106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7"/>
            <p:cNvSpPr/>
            <p:nvPr/>
          </p:nvSpPr>
          <p:spPr>
            <a:xfrm>
              <a:off x="7845775" y="955600"/>
              <a:ext cx="180600" cy="1499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36167"/>
                </a:gs>
                <a:gs pos="100000">
                  <a:srgbClr val="23232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7"/>
            <p:cNvSpPr/>
            <p:nvPr/>
          </p:nvSpPr>
          <p:spPr>
            <a:xfrm>
              <a:off x="6084750" y="973000"/>
              <a:ext cx="1498500" cy="1499400"/>
            </a:xfrm>
            <a:prstGeom prst="roundRect">
              <a:avLst>
                <a:gd name="adj" fmla="val 31368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  <a:effectLst>
              <a:outerShdw blurRad="500063" dist="142875" dir="2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6439510" y="1354857"/>
              <a:ext cx="775381" cy="735710"/>
            </a:xfrm>
            <a:custGeom>
              <a:avLst/>
              <a:gdLst/>
              <a:ahLst/>
              <a:cxnLst/>
              <a:rect l="l" t="t" r="r" b="b"/>
              <a:pathLst>
                <a:path w="12666" h="12016" extrusionOk="0">
                  <a:moveTo>
                    <a:pt x="3844" y="5105"/>
                  </a:moveTo>
                  <a:cubicBezTo>
                    <a:pt x="4096" y="5105"/>
                    <a:pt x="4285" y="5325"/>
                    <a:pt x="4285" y="5514"/>
                  </a:cubicBezTo>
                  <a:lnTo>
                    <a:pt x="4285" y="7153"/>
                  </a:lnTo>
                  <a:cubicBezTo>
                    <a:pt x="4285" y="7405"/>
                    <a:pt x="4096" y="7562"/>
                    <a:pt x="3844" y="7562"/>
                  </a:cubicBezTo>
                  <a:lnTo>
                    <a:pt x="2206" y="7562"/>
                  </a:lnTo>
                  <a:cubicBezTo>
                    <a:pt x="1954" y="7562"/>
                    <a:pt x="1765" y="7342"/>
                    <a:pt x="1765" y="7153"/>
                  </a:cubicBezTo>
                  <a:lnTo>
                    <a:pt x="1765" y="5514"/>
                  </a:lnTo>
                  <a:cubicBezTo>
                    <a:pt x="1765" y="5262"/>
                    <a:pt x="1954" y="5105"/>
                    <a:pt x="2206" y="5105"/>
                  </a:cubicBezTo>
                  <a:close/>
                  <a:moveTo>
                    <a:pt x="7215" y="1765"/>
                  </a:moveTo>
                  <a:cubicBezTo>
                    <a:pt x="7436" y="1765"/>
                    <a:pt x="7593" y="1954"/>
                    <a:pt x="7593" y="2206"/>
                  </a:cubicBezTo>
                  <a:lnTo>
                    <a:pt x="7593" y="7153"/>
                  </a:lnTo>
                  <a:cubicBezTo>
                    <a:pt x="7593" y="7405"/>
                    <a:pt x="7404" y="7562"/>
                    <a:pt x="7215" y="7562"/>
                  </a:cubicBezTo>
                  <a:lnTo>
                    <a:pt x="5545" y="7562"/>
                  </a:lnTo>
                  <a:cubicBezTo>
                    <a:pt x="5325" y="7562"/>
                    <a:pt x="5167" y="7342"/>
                    <a:pt x="5167" y="7153"/>
                  </a:cubicBezTo>
                  <a:lnTo>
                    <a:pt x="5167" y="2206"/>
                  </a:lnTo>
                  <a:cubicBezTo>
                    <a:pt x="5167" y="1954"/>
                    <a:pt x="5356" y="1765"/>
                    <a:pt x="5545" y="1765"/>
                  </a:cubicBezTo>
                  <a:close/>
                  <a:moveTo>
                    <a:pt x="10523" y="4286"/>
                  </a:moveTo>
                  <a:cubicBezTo>
                    <a:pt x="10744" y="4286"/>
                    <a:pt x="10901" y="4475"/>
                    <a:pt x="10901" y="4664"/>
                  </a:cubicBezTo>
                  <a:lnTo>
                    <a:pt x="10901" y="7153"/>
                  </a:lnTo>
                  <a:cubicBezTo>
                    <a:pt x="10901" y="7405"/>
                    <a:pt x="10712" y="7562"/>
                    <a:pt x="10523" y="7562"/>
                  </a:cubicBezTo>
                  <a:lnTo>
                    <a:pt x="8853" y="7562"/>
                  </a:lnTo>
                  <a:cubicBezTo>
                    <a:pt x="8633" y="7562"/>
                    <a:pt x="8475" y="7342"/>
                    <a:pt x="8475" y="7153"/>
                  </a:cubicBezTo>
                  <a:lnTo>
                    <a:pt x="8475" y="4664"/>
                  </a:lnTo>
                  <a:cubicBezTo>
                    <a:pt x="8475" y="4443"/>
                    <a:pt x="8664" y="4286"/>
                    <a:pt x="8853" y="4286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490"/>
                    <a:pt x="0" y="5514"/>
                  </a:cubicBezTo>
                  <a:cubicBezTo>
                    <a:pt x="0" y="6900"/>
                    <a:pt x="599" y="8224"/>
                    <a:pt x="1639" y="9200"/>
                  </a:cubicBezTo>
                  <a:lnTo>
                    <a:pt x="1639" y="11626"/>
                  </a:lnTo>
                  <a:cubicBezTo>
                    <a:pt x="1639" y="11856"/>
                    <a:pt x="1832" y="12016"/>
                    <a:pt x="2045" y="12016"/>
                  </a:cubicBezTo>
                  <a:cubicBezTo>
                    <a:pt x="2153" y="12016"/>
                    <a:pt x="2267" y="11974"/>
                    <a:pt x="2363" y="11878"/>
                  </a:cubicBezTo>
                  <a:lnTo>
                    <a:pt x="3749" y="10492"/>
                  </a:lnTo>
                  <a:cubicBezTo>
                    <a:pt x="4569" y="10839"/>
                    <a:pt x="5419" y="10965"/>
                    <a:pt x="6333" y="10965"/>
                  </a:cubicBezTo>
                  <a:cubicBezTo>
                    <a:pt x="9830" y="10965"/>
                    <a:pt x="12665" y="8507"/>
                    <a:pt x="12665" y="5451"/>
                  </a:cubicBezTo>
                  <a:cubicBezTo>
                    <a:pt x="12665" y="2427"/>
                    <a:pt x="9830" y="1"/>
                    <a:pt x="6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7774825" y="1307338"/>
              <a:ext cx="322500" cy="153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  <a:effectLst>
              <a:outerShdw blurRad="142875" dist="76200" dir="264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>
            <a:spLocks noGrp="1"/>
          </p:cNvSpPr>
          <p:nvPr>
            <p:ph type="title"/>
          </p:nvPr>
        </p:nvSpPr>
        <p:spPr>
          <a:xfrm>
            <a:off x="720013" y="1733475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&amp; Motivation</a:t>
            </a:r>
            <a:endParaRPr dirty="0"/>
          </a:p>
        </p:txBody>
      </p:sp>
      <p:sp>
        <p:nvSpPr>
          <p:cNvPr id="327" name="Google Shape;327;p39"/>
          <p:cNvSpPr txBox="1">
            <a:spLocks noGrp="1"/>
          </p:cNvSpPr>
          <p:nvPr>
            <p:ph type="title" idx="9"/>
          </p:nvPr>
        </p:nvSpPr>
        <p:spPr>
          <a:xfrm>
            <a:off x="719939" y="3543454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b="1" dirty="0"/>
              <a:t>System Architecture &amp; Workflow</a:t>
            </a:r>
          </a:p>
        </p:txBody>
      </p:sp>
      <p:sp>
        <p:nvSpPr>
          <p:cNvPr id="329" name="Google Shape;329;p39"/>
          <p:cNvSpPr txBox="1">
            <a:spLocks noGrp="1"/>
          </p:cNvSpPr>
          <p:nvPr>
            <p:ph type="title" idx="15"/>
          </p:nvPr>
        </p:nvSpPr>
        <p:spPr>
          <a:xfrm>
            <a:off x="3404017" y="3370200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331" name="Google Shape;331;p39"/>
          <p:cNvSpPr txBox="1">
            <a:spLocks noGrp="1"/>
          </p:cNvSpPr>
          <p:nvPr>
            <p:ph type="title" idx="18"/>
          </p:nvPr>
        </p:nvSpPr>
        <p:spPr>
          <a:xfrm>
            <a:off x="6087661" y="3370200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Demo</a:t>
            </a:r>
            <a:endParaRPr dirty="0"/>
          </a:p>
        </p:txBody>
      </p:sp>
      <p:sp>
        <p:nvSpPr>
          <p:cNvPr id="333" name="Google Shape;333;p39"/>
          <p:cNvSpPr txBox="1">
            <a:spLocks noGrp="1"/>
          </p:cNvSpPr>
          <p:nvPr>
            <p:ph type="title" idx="2"/>
          </p:nvPr>
        </p:nvSpPr>
        <p:spPr>
          <a:xfrm>
            <a:off x="720013" y="120580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5" name="Google Shape;335;p39"/>
          <p:cNvSpPr txBox="1">
            <a:spLocks noGrp="1"/>
          </p:cNvSpPr>
          <p:nvPr>
            <p:ph type="title" idx="3"/>
          </p:nvPr>
        </p:nvSpPr>
        <p:spPr>
          <a:xfrm>
            <a:off x="3403863" y="1733475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 &amp; Methodology</a:t>
            </a:r>
            <a:endParaRPr dirty="0"/>
          </a:p>
        </p:txBody>
      </p:sp>
      <p:sp>
        <p:nvSpPr>
          <p:cNvPr id="336" name="Google Shape;336;p39"/>
          <p:cNvSpPr txBox="1">
            <a:spLocks noGrp="1"/>
          </p:cNvSpPr>
          <p:nvPr>
            <p:ph type="title" idx="4"/>
          </p:nvPr>
        </p:nvSpPr>
        <p:spPr>
          <a:xfrm>
            <a:off x="3403813" y="120575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8" name="Google Shape;338;p39"/>
          <p:cNvSpPr txBox="1">
            <a:spLocks noGrp="1"/>
          </p:cNvSpPr>
          <p:nvPr>
            <p:ph type="title" idx="6"/>
          </p:nvPr>
        </p:nvSpPr>
        <p:spPr>
          <a:xfrm>
            <a:off x="6087538" y="1733475"/>
            <a:ext cx="2336400" cy="52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b="1" dirty="0"/>
              <a:t>Model &amp; Evaluation</a:t>
            </a:r>
          </a:p>
        </p:txBody>
      </p:sp>
      <p:sp>
        <p:nvSpPr>
          <p:cNvPr id="339" name="Google Shape;339;p39"/>
          <p:cNvSpPr txBox="1">
            <a:spLocks noGrp="1"/>
          </p:cNvSpPr>
          <p:nvPr>
            <p:ph type="title" idx="7"/>
          </p:nvPr>
        </p:nvSpPr>
        <p:spPr>
          <a:xfrm>
            <a:off x="6087613" y="120575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1" name="Google Shape;341;p39"/>
          <p:cNvSpPr txBox="1">
            <a:spLocks noGrp="1"/>
          </p:cNvSpPr>
          <p:nvPr>
            <p:ph type="title" idx="13"/>
          </p:nvPr>
        </p:nvSpPr>
        <p:spPr>
          <a:xfrm>
            <a:off x="720075" y="284250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42" name="Google Shape;342;p39"/>
          <p:cNvSpPr txBox="1">
            <a:spLocks noGrp="1"/>
          </p:cNvSpPr>
          <p:nvPr>
            <p:ph type="title" idx="16"/>
          </p:nvPr>
        </p:nvSpPr>
        <p:spPr>
          <a:xfrm>
            <a:off x="3403875" y="284250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title" idx="19"/>
          </p:nvPr>
        </p:nvSpPr>
        <p:spPr>
          <a:xfrm>
            <a:off x="6087675" y="2842500"/>
            <a:ext cx="579000" cy="52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44" name="Google Shape;344;p39"/>
          <p:cNvSpPr txBox="1">
            <a:spLocks noGrp="1"/>
          </p:cNvSpPr>
          <p:nvPr>
            <p:ph type="title" idx="21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/>
          <p:cNvSpPr txBox="1">
            <a:spLocks noGrp="1"/>
          </p:cNvSpPr>
          <p:nvPr>
            <p:ph type="title"/>
          </p:nvPr>
        </p:nvSpPr>
        <p:spPr>
          <a:xfrm>
            <a:off x="1305950" y="2158100"/>
            <a:ext cx="3636600" cy="12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&amp;</a:t>
            </a:r>
            <a:br>
              <a:rPr lang="en" dirty="0"/>
            </a:br>
            <a:r>
              <a:rPr lang="en" dirty="0"/>
              <a:t>Motivation</a:t>
            </a:r>
            <a:endParaRPr dirty="0"/>
          </a:p>
        </p:txBody>
      </p:sp>
      <p:sp>
        <p:nvSpPr>
          <p:cNvPr id="366" name="Google Shape;366;p41"/>
          <p:cNvSpPr txBox="1">
            <a:spLocks noGrp="1"/>
          </p:cNvSpPr>
          <p:nvPr>
            <p:ph type="title" idx="2"/>
          </p:nvPr>
        </p:nvSpPr>
        <p:spPr>
          <a:xfrm>
            <a:off x="1305950" y="1312600"/>
            <a:ext cx="1108800" cy="66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7" name="Google Shape;367;p41"/>
          <p:cNvSpPr/>
          <p:nvPr/>
        </p:nvSpPr>
        <p:spPr>
          <a:xfrm>
            <a:off x="5582028" y="1717150"/>
            <a:ext cx="1839000" cy="1840200"/>
          </a:xfrm>
          <a:prstGeom prst="roundRect">
            <a:avLst>
              <a:gd name="adj" fmla="val 31368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41"/>
          <p:cNvGrpSpPr/>
          <p:nvPr/>
        </p:nvGrpSpPr>
        <p:grpSpPr>
          <a:xfrm>
            <a:off x="6037640" y="2304847"/>
            <a:ext cx="927784" cy="664807"/>
            <a:chOff x="-60621600" y="4145650"/>
            <a:chExt cx="316650" cy="226850"/>
          </a:xfrm>
        </p:grpSpPr>
        <p:sp>
          <p:nvSpPr>
            <p:cNvPr id="369" name="Google Shape;369;p41"/>
            <p:cNvSpPr/>
            <p:nvPr/>
          </p:nvSpPr>
          <p:spPr>
            <a:xfrm>
              <a:off x="-60463275" y="4249600"/>
              <a:ext cx="61450" cy="60675"/>
            </a:xfrm>
            <a:custGeom>
              <a:avLst/>
              <a:gdLst/>
              <a:ahLst/>
              <a:cxnLst/>
              <a:rect l="l" t="t" r="r" b="b"/>
              <a:pathLst>
                <a:path w="2458" h="2427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1"/>
            <p:cNvSpPr/>
            <p:nvPr/>
          </p:nvSpPr>
          <p:spPr>
            <a:xfrm>
              <a:off x="-60526300" y="4249600"/>
              <a:ext cx="48075" cy="60675"/>
            </a:xfrm>
            <a:custGeom>
              <a:avLst/>
              <a:gdLst/>
              <a:ahLst/>
              <a:cxnLst/>
              <a:rect l="l" t="t" r="r" b="b"/>
              <a:pathLst>
                <a:path w="1923" h="2427" extrusionOk="0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1"/>
            <p:cNvSpPr/>
            <p:nvPr/>
          </p:nvSpPr>
          <p:spPr>
            <a:xfrm>
              <a:off x="-60621600" y="4145650"/>
              <a:ext cx="316650" cy="226850"/>
            </a:xfrm>
            <a:custGeom>
              <a:avLst/>
              <a:gdLst/>
              <a:ahLst/>
              <a:cxnLst/>
              <a:rect l="l" t="t" r="r" b="b"/>
              <a:pathLst>
                <a:path w="12666" h="9074" extrusionOk="0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&amp; Motivation</a:t>
            </a:r>
            <a:endParaRPr dirty="0"/>
          </a:p>
        </p:txBody>
      </p:sp>
      <p:sp>
        <p:nvSpPr>
          <p:cNvPr id="377" name="Google Shape;377;p42"/>
          <p:cNvSpPr txBox="1">
            <a:spLocks noGrp="1"/>
          </p:cNvSpPr>
          <p:nvPr>
            <p:ph type="body" idx="1"/>
          </p:nvPr>
        </p:nvSpPr>
        <p:spPr>
          <a:xfrm>
            <a:off x="443137" y="1584148"/>
            <a:ext cx="4658252" cy="23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 dirty="0"/>
              <a:t>Business Problem</a:t>
            </a:r>
          </a:p>
          <a:p>
            <a:pPr marL="139700" indent="0">
              <a:buNone/>
            </a:pPr>
            <a:r>
              <a:rPr lang="en-US" sz="1200" dirty="0"/>
              <a:t>Banks and lending institutions review thousands of credit applications every month. Traditional manual scoring systems:</a:t>
            </a:r>
          </a:p>
          <a:p>
            <a:pPr marL="139700" indent="0">
              <a:buNone/>
            </a:pPr>
            <a:r>
              <a:rPr lang="en-US" sz="1200" dirty="0"/>
              <a:t>- Are </a:t>
            </a:r>
            <a:r>
              <a:rPr lang="en-US" sz="1200" b="1" dirty="0"/>
              <a:t>slow</a:t>
            </a:r>
            <a:r>
              <a:rPr lang="en-US" sz="1200" dirty="0"/>
              <a:t> and highly </a:t>
            </a:r>
            <a:r>
              <a:rPr lang="en-US" sz="1200" b="1" dirty="0"/>
              <a:t>inconsistent</a:t>
            </a: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- Depend on </a:t>
            </a:r>
            <a:r>
              <a:rPr lang="en-US" sz="1200" b="1" dirty="0"/>
              <a:t>limited rule-based features</a:t>
            </a: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- Struggle to detect </a:t>
            </a:r>
            <a:r>
              <a:rPr lang="en-US" sz="1200" b="1" dirty="0"/>
              <a:t>complex non-linear risk patterns</a:t>
            </a: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- Increase the risk of </a:t>
            </a:r>
            <a:r>
              <a:rPr lang="en-US" sz="1200" b="1" dirty="0"/>
              <a:t>incorrect approvals or unnecessary rejections</a:t>
            </a: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This creates operational inefficiencies and financial risk.</a:t>
            </a:r>
          </a:p>
        </p:txBody>
      </p:sp>
      <p:sp>
        <p:nvSpPr>
          <p:cNvPr id="2" name="Google Shape;377;p42">
            <a:extLst>
              <a:ext uri="{FF2B5EF4-FFF2-40B4-BE49-F238E27FC236}">
                <a16:creationId xmlns:a16="http://schemas.microsoft.com/office/drawing/2014/main" id="{418F0215-9015-6846-49C3-AB70EF065B29}"/>
              </a:ext>
            </a:extLst>
          </p:cNvPr>
          <p:cNvSpPr txBox="1">
            <a:spLocks/>
          </p:cNvSpPr>
          <p:nvPr/>
        </p:nvSpPr>
        <p:spPr>
          <a:xfrm>
            <a:off x="4936530" y="1680400"/>
            <a:ext cx="4091967" cy="254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1200" b="1" dirty="0"/>
              <a:t>Problem Statement</a:t>
            </a:r>
          </a:p>
          <a:p>
            <a:pPr marL="139700" indent="0">
              <a:buNone/>
            </a:pPr>
            <a:r>
              <a:rPr lang="en-US" sz="1200" dirty="0"/>
              <a:t>- There is a need for a </a:t>
            </a:r>
            <a:r>
              <a:rPr lang="en-US" sz="1200" b="1" dirty="0"/>
              <a:t>machine learning–driven credit - assessment system</a:t>
            </a:r>
            <a:r>
              <a:rPr lang="en-US" sz="1200" dirty="0"/>
              <a:t> that can:</a:t>
            </a:r>
          </a:p>
          <a:p>
            <a:pPr marL="139700" indent="0">
              <a:buNone/>
            </a:pPr>
            <a:r>
              <a:rPr lang="en-US" sz="1200" dirty="0"/>
              <a:t>Analyze applicant data accurately</a:t>
            </a:r>
          </a:p>
          <a:p>
            <a:pPr marL="139700" indent="0">
              <a:buNone/>
            </a:pPr>
            <a:r>
              <a:rPr lang="en-US" sz="1200" dirty="0"/>
              <a:t>- Detect hidden risk indicators</a:t>
            </a:r>
          </a:p>
          <a:p>
            <a:pPr marL="139700" indent="0">
              <a:buNone/>
            </a:pPr>
            <a:r>
              <a:rPr lang="en-US" sz="1200" dirty="0"/>
              <a:t>- Provide transparent, reproducible decisions</a:t>
            </a:r>
          </a:p>
          <a:p>
            <a:pPr marL="139700" indent="0">
              <a:buNone/>
            </a:pPr>
            <a:r>
              <a:rPr lang="en-US" sz="1200" dirty="0"/>
              <a:t>- Support loan officers with intelligent recommendations</a:t>
            </a:r>
          </a:p>
          <a:p>
            <a:endParaRPr lang="en-US" sz="1200" b="1" dirty="0"/>
          </a:p>
          <a:p>
            <a:r>
              <a:rPr lang="en-US" sz="1200" b="1" dirty="0"/>
              <a:t>Project Objectives</a:t>
            </a:r>
          </a:p>
          <a:p>
            <a:pPr marL="139700" indent="0">
              <a:buNone/>
            </a:pPr>
            <a:r>
              <a:rPr lang="en-US" sz="1200" b="1" dirty="0"/>
              <a:t>- Automate</a:t>
            </a:r>
            <a:r>
              <a:rPr lang="en-US" sz="1200" dirty="0"/>
              <a:t> credit approval predictions</a:t>
            </a:r>
          </a:p>
          <a:p>
            <a:pPr marL="139700" indent="0">
              <a:buNone/>
            </a:pPr>
            <a:r>
              <a:rPr lang="en-US" sz="1200" b="1" dirty="0"/>
              <a:t>- Increase accuracy</a:t>
            </a:r>
            <a:r>
              <a:rPr lang="en-US" sz="1200" dirty="0"/>
              <a:t> using machine learning</a:t>
            </a:r>
          </a:p>
          <a:p>
            <a:pPr marL="139700" indent="0">
              <a:buNone/>
            </a:pPr>
            <a:r>
              <a:rPr lang="en-US" sz="1200" b="1" dirty="0"/>
              <a:t>- Explain decisions</a:t>
            </a:r>
            <a:r>
              <a:rPr lang="en-US" sz="1200" dirty="0"/>
              <a:t> through feature importance insights</a:t>
            </a:r>
          </a:p>
          <a:p>
            <a:pPr marL="139700" indent="0">
              <a:buNone/>
            </a:pPr>
            <a:r>
              <a:rPr lang="en-US" sz="1200" b="1" dirty="0"/>
              <a:t>- Deploy</a:t>
            </a:r>
            <a:r>
              <a:rPr lang="en-US" sz="1200" dirty="0"/>
              <a:t> a fully interactive </a:t>
            </a:r>
            <a:r>
              <a:rPr lang="en-US" sz="1200" b="1" dirty="0"/>
              <a:t>Streamlit application</a:t>
            </a:r>
            <a:r>
              <a:rPr lang="en-US" sz="1200" dirty="0"/>
              <a:t> for real-time decision-making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B76C60A-49DE-4901-0424-B158DF4D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>
            <a:extLst>
              <a:ext uri="{FF2B5EF4-FFF2-40B4-BE49-F238E27FC236}">
                <a16:creationId xmlns:a16="http://schemas.microsoft.com/office/drawing/2014/main" id="{6DE1A84D-2935-D92A-AB96-F1D771BC57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5950" y="2158100"/>
            <a:ext cx="3992234" cy="12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&amp;</a:t>
            </a:r>
            <a:br>
              <a:rPr lang="en" dirty="0"/>
            </a:br>
            <a:r>
              <a:rPr lang="en" dirty="0"/>
              <a:t>Methodology</a:t>
            </a:r>
            <a:endParaRPr dirty="0"/>
          </a:p>
        </p:txBody>
      </p:sp>
      <p:sp>
        <p:nvSpPr>
          <p:cNvPr id="366" name="Google Shape;366;p41">
            <a:extLst>
              <a:ext uri="{FF2B5EF4-FFF2-40B4-BE49-F238E27FC236}">
                <a16:creationId xmlns:a16="http://schemas.microsoft.com/office/drawing/2014/main" id="{3D3B8C3F-9F55-C4F1-14D4-6B7FE460EDF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05950" y="1312600"/>
            <a:ext cx="1108800" cy="66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67" name="Google Shape;367;p41">
            <a:extLst>
              <a:ext uri="{FF2B5EF4-FFF2-40B4-BE49-F238E27FC236}">
                <a16:creationId xmlns:a16="http://schemas.microsoft.com/office/drawing/2014/main" id="{D56F522B-1534-3309-F3C5-512E94EE3406}"/>
              </a:ext>
            </a:extLst>
          </p:cNvPr>
          <p:cNvSpPr/>
          <p:nvPr/>
        </p:nvSpPr>
        <p:spPr>
          <a:xfrm>
            <a:off x="5582028" y="1717150"/>
            <a:ext cx="1839000" cy="1840200"/>
          </a:xfrm>
          <a:prstGeom prst="roundRect">
            <a:avLst>
              <a:gd name="adj" fmla="val 31368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41">
            <a:extLst>
              <a:ext uri="{FF2B5EF4-FFF2-40B4-BE49-F238E27FC236}">
                <a16:creationId xmlns:a16="http://schemas.microsoft.com/office/drawing/2014/main" id="{E37868C4-74A7-6909-0B44-930D21897CF6}"/>
              </a:ext>
            </a:extLst>
          </p:cNvPr>
          <p:cNvGrpSpPr/>
          <p:nvPr/>
        </p:nvGrpSpPr>
        <p:grpSpPr>
          <a:xfrm>
            <a:off x="6037640" y="2304847"/>
            <a:ext cx="927784" cy="664807"/>
            <a:chOff x="-60621600" y="4145650"/>
            <a:chExt cx="316650" cy="226850"/>
          </a:xfrm>
        </p:grpSpPr>
        <p:sp>
          <p:nvSpPr>
            <p:cNvPr id="369" name="Google Shape;369;p41">
              <a:extLst>
                <a:ext uri="{FF2B5EF4-FFF2-40B4-BE49-F238E27FC236}">
                  <a16:creationId xmlns:a16="http://schemas.microsoft.com/office/drawing/2014/main" id="{8B9803F1-B1A1-8180-0299-6EC484C11DAA}"/>
                </a:ext>
              </a:extLst>
            </p:cNvPr>
            <p:cNvSpPr/>
            <p:nvPr/>
          </p:nvSpPr>
          <p:spPr>
            <a:xfrm>
              <a:off x="-60463275" y="4249600"/>
              <a:ext cx="61450" cy="60675"/>
            </a:xfrm>
            <a:custGeom>
              <a:avLst/>
              <a:gdLst/>
              <a:ahLst/>
              <a:cxnLst/>
              <a:rect l="l" t="t" r="r" b="b"/>
              <a:pathLst>
                <a:path w="2458" h="2427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1">
              <a:extLst>
                <a:ext uri="{FF2B5EF4-FFF2-40B4-BE49-F238E27FC236}">
                  <a16:creationId xmlns:a16="http://schemas.microsoft.com/office/drawing/2014/main" id="{84AA92B2-EB32-FB83-9477-4939C5DE6C22}"/>
                </a:ext>
              </a:extLst>
            </p:cNvPr>
            <p:cNvSpPr/>
            <p:nvPr/>
          </p:nvSpPr>
          <p:spPr>
            <a:xfrm>
              <a:off x="-60526300" y="4249600"/>
              <a:ext cx="48075" cy="60675"/>
            </a:xfrm>
            <a:custGeom>
              <a:avLst/>
              <a:gdLst/>
              <a:ahLst/>
              <a:cxnLst/>
              <a:rect l="l" t="t" r="r" b="b"/>
              <a:pathLst>
                <a:path w="1923" h="2427" extrusionOk="0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1">
              <a:extLst>
                <a:ext uri="{FF2B5EF4-FFF2-40B4-BE49-F238E27FC236}">
                  <a16:creationId xmlns:a16="http://schemas.microsoft.com/office/drawing/2014/main" id="{CA08D990-D3D8-48D7-2618-F20C95E7C444}"/>
                </a:ext>
              </a:extLst>
            </p:cNvPr>
            <p:cNvSpPr/>
            <p:nvPr/>
          </p:nvSpPr>
          <p:spPr>
            <a:xfrm>
              <a:off x="-60621600" y="4145650"/>
              <a:ext cx="316650" cy="226850"/>
            </a:xfrm>
            <a:custGeom>
              <a:avLst/>
              <a:gdLst/>
              <a:ahLst/>
              <a:cxnLst/>
              <a:rect l="l" t="t" r="r" b="b"/>
              <a:pathLst>
                <a:path w="12666" h="9074" extrusionOk="0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8610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820904DA-B9E3-21F3-005A-59C750D1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>
            <a:extLst>
              <a:ext uri="{FF2B5EF4-FFF2-40B4-BE49-F238E27FC236}">
                <a16:creationId xmlns:a16="http://schemas.microsoft.com/office/drawing/2014/main" id="{75317C5A-397A-80BD-EF77-0A11C49161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</a:t>
            </a:r>
            <a:endParaRPr dirty="0"/>
          </a:p>
        </p:txBody>
      </p:sp>
      <p:sp>
        <p:nvSpPr>
          <p:cNvPr id="2" name="Google Shape;377;p42">
            <a:extLst>
              <a:ext uri="{FF2B5EF4-FFF2-40B4-BE49-F238E27FC236}">
                <a16:creationId xmlns:a16="http://schemas.microsoft.com/office/drawing/2014/main" id="{0FB2FC6C-5059-6081-8738-56D05AEA5191}"/>
              </a:ext>
            </a:extLst>
          </p:cNvPr>
          <p:cNvSpPr txBox="1">
            <a:spLocks/>
          </p:cNvSpPr>
          <p:nvPr/>
        </p:nvSpPr>
        <p:spPr>
          <a:xfrm>
            <a:off x="797667" y="1301612"/>
            <a:ext cx="6450156" cy="254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b="1" dirty="0"/>
              <a:t>Dataset</a:t>
            </a:r>
          </a:p>
          <a:p>
            <a:pPr marL="139700" indent="0">
              <a:buNone/>
            </a:pPr>
            <a:r>
              <a:rPr lang="en-US" b="1" dirty="0"/>
              <a:t>UCI Australian Credit Approval Dataset</a:t>
            </a:r>
            <a:endParaRPr lang="en-US" dirty="0"/>
          </a:p>
          <a:p>
            <a:pPr marL="139700" indent="0">
              <a:buNone/>
            </a:pPr>
            <a:r>
              <a:rPr lang="en-US" b="1" dirty="0"/>
              <a:t>	-690</a:t>
            </a:r>
            <a:r>
              <a:rPr lang="en-US" dirty="0"/>
              <a:t> historical credit applications</a:t>
            </a:r>
          </a:p>
          <a:p>
            <a:pPr marL="139700" indent="0">
              <a:buNone/>
            </a:pPr>
            <a:r>
              <a:rPr lang="en-US" b="1" dirty="0"/>
              <a:t>	-14 input features</a:t>
            </a:r>
            <a:r>
              <a:rPr lang="en-US" dirty="0"/>
              <a:t> (mixed: categorical + numerical)</a:t>
            </a:r>
          </a:p>
          <a:p>
            <a:pPr marL="139700" indent="0">
              <a:buNone/>
            </a:pPr>
            <a:r>
              <a:rPr lang="en-US" b="1" dirty="0"/>
              <a:t>	-1 binary target variable:</a:t>
            </a:r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b="1" dirty="0"/>
              <a:t>1 = Approved</a:t>
            </a:r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b="1" dirty="0"/>
              <a:t>0 = Not Approved</a:t>
            </a:r>
            <a:endParaRPr lang="en-US" dirty="0"/>
          </a:p>
          <a:p>
            <a:r>
              <a:rPr lang="en-US" dirty="0"/>
              <a:t>Includes anonymized attributes representing demographic, financial, and credit history information</a:t>
            </a:r>
          </a:p>
          <a:p>
            <a:r>
              <a:rPr lang="en-US" dirty="0"/>
              <a:t>Well-known benchmark dataset for evaluating credit risk models</a:t>
            </a:r>
          </a:p>
        </p:txBody>
      </p:sp>
    </p:spTree>
    <p:extLst>
      <p:ext uri="{BB962C8B-B14F-4D97-AF65-F5344CB8AC3E}">
        <p14:creationId xmlns:p14="http://schemas.microsoft.com/office/powerpoint/2010/main" val="203070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1D7C1A48-5CA0-B86C-84E4-4487E8B5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>
            <a:extLst>
              <a:ext uri="{FF2B5EF4-FFF2-40B4-BE49-F238E27FC236}">
                <a16:creationId xmlns:a16="http://schemas.microsoft.com/office/drawing/2014/main" id="{AD655296-7AC0-6C22-AA53-5CEE7CF5C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2" name="Google Shape;377;p42">
            <a:extLst>
              <a:ext uri="{FF2B5EF4-FFF2-40B4-BE49-F238E27FC236}">
                <a16:creationId xmlns:a16="http://schemas.microsoft.com/office/drawing/2014/main" id="{5077488B-E8B6-0774-939D-2BD92C0060C4}"/>
              </a:ext>
            </a:extLst>
          </p:cNvPr>
          <p:cNvSpPr txBox="1">
            <a:spLocks/>
          </p:cNvSpPr>
          <p:nvPr/>
        </p:nvSpPr>
        <p:spPr>
          <a:xfrm>
            <a:off x="797667" y="1532619"/>
            <a:ext cx="6921794" cy="272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None/>
            </a:pPr>
            <a:r>
              <a:rPr lang="en-US" sz="1200" dirty="0"/>
              <a:t>A structured end-to-end machine learning workflow: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Data Loading</a:t>
            </a:r>
            <a:br>
              <a:rPr lang="en-US" sz="1200" dirty="0"/>
            </a:br>
            <a:r>
              <a:rPr lang="en-US" sz="1200" dirty="0"/>
              <a:t>Import dataset from UCI repository and convert raw attributes into a DataFrame.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Preprocessing</a:t>
            </a:r>
            <a:endParaRPr lang="en-US" sz="1200" dirty="0"/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Handle missing values using </a:t>
            </a:r>
            <a:r>
              <a:rPr lang="en-US" sz="1200" b="1" dirty="0"/>
              <a:t>mean</a:t>
            </a:r>
            <a:r>
              <a:rPr lang="en-US" sz="1200" dirty="0"/>
              <a:t> &amp; </a:t>
            </a:r>
            <a:r>
              <a:rPr lang="en-US" sz="1200" b="1" dirty="0"/>
              <a:t>most-frequent</a:t>
            </a:r>
            <a:r>
              <a:rPr lang="en-US" sz="1200" dirty="0"/>
              <a:t> imputation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Apply </a:t>
            </a:r>
            <a:r>
              <a:rPr lang="en-US" sz="1200" b="1" dirty="0"/>
              <a:t>One-Hot Encoding</a:t>
            </a:r>
            <a:r>
              <a:rPr lang="en-US" sz="1200" dirty="0"/>
              <a:t> for categorical features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Build a unified </a:t>
            </a:r>
            <a:r>
              <a:rPr lang="en-US" sz="1200" b="1" dirty="0"/>
              <a:t>scikit-learn </a:t>
            </a:r>
            <a:r>
              <a:rPr lang="en-US" sz="1200" b="1" dirty="0" err="1"/>
              <a:t>ColumnTransformer</a:t>
            </a:r>
            <a:r>
              <a:rPr lang="en-US" sz="1200" b="1" dirty="0"/>
              <a:t> pipeline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b="1" dirty="0"/>
              <a:t>Train/Test Split (70/30)</a:t>
            </a:r>
            <a:br>
              <a:rPr lang="en-US" sz="1200" dirty="0"/>
            </a:br>
            <a:r>
              <a:rPr lang="en-US" sz="1200" dirty="0"/>
              <a:t>Reserve 30% of the data for unbiased evaluation.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Model Training</a:t>
            </a:r>
            <a:endParaRPr lang="en-US" sz="1200" dirty="0"/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Train a </a:t>
            </a:r>
            <a:r>
              <a:rPr lang="en-US" sz="1200" b="1" dirty="0"/>
              <a:t>Random Forest classifier</a:t>
            </a:r>
            <a:endParaRPr lang="en-US" sz="1200" dirty="0"/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Capture non-linear patterns and interactions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Model Evaluation</a:t>
            </a:r>
            <a:br>
              <a:rPr lang="en-US" sz="1200" dirty="0"/>
            </a:br>
            <a:r>
              <a:rPr lang="en-US" sz="1200" dirty="0"/>
              <a:t>Metrics used: </a:t>
            </a:r>
            <a:r>
              <a:rPr lang="en-US" sz="1200" b="1" dirty="0"/>
              <a:t>Accuracy</a:t>
            </a:r>
            <a:r>
              <a:rPr lang="en-US" sz="1200" dirty="0"/>
              <a:t>, </a:t>
            </a:r>
            <a:r>
              <a:rPr lang="en-US" sz="1200" b="1" dirty="0"/>
              <a:t>ROC-AUC</a:t>
            </a:r>
            <a:r>
              <a:rPr lang="en-US" sz="1200" dirty="0"/>
              <a:t>, </a:t>
            </a:r>
            <a:r>
              <a:rPr lang="en-US" sz="1200" b="1" dirty="0"/>
              <a:t>F1-score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b="1" dirty="0"/>
              <a:t>Deployment</a:t>
            </a:r>
            <a:br>
              <a:rPr lang="en-US" sz="1200" dirty="0"/>
            </a:br>
            <a:r>
              <a:rPr lang="en-US" sz="1200" dirty="0"/>
              <a:t>Convert the ML pipeline into a fully interactive </a:t>
            </a:r>
            <a:r>
              <a:rPr lang="en-US" sz="1200" b="1" dirty="0"/>
              <a:t>Streamlit web application</a:t>
            </a:r>
            <a:r>
              <a:rPr lang="en-US" sz="1200" dirty="0"/>
              <a:t> for real-time credit predictions.</a:t>
            </a:r>
          </a:p>
        </p:txBody>
      </p:sp>
    </p:spTree>
    <p:extLst>
      <p:ext uri="{BB962C8B-B14F-4D97-AF65-F5344CB8AC3E}">
        <p14:creationId xmlns:p14="http://schemas.microsoft.com/office/powerpoint/2010/main" val="2770810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2C340741-3D29-EF9D-618C-159404D5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>
            <a:extLst>
              <a:ext uri="{FF2B5EF4-FFF2-40B4-BE49-F238E27FC236}">
                <a16:creationId xmlns:a16="http://schemas.microsoft.com/office/drawing/2014/main" id="{9D3E755A-D110-FF58-8B39-5B7397C79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5950" y="2158100"/>
            <a:ext cx="3992234" cy="12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&amp; </a:t>
            </a:r>
            <a:br>
              <a:rPr lang="en" dirty="0"/>
            </a:br>
            <a:r>
              <a:rPr lang="en" dirty="0"/>
              <a:t>Evaluation</a:t>
            </a:r>
            <a:endParaRPr dirty="0"/>
          </a:p>
        </p:txBody>
      </p:sp>
      <p:sp>
        <p:nvSpPr>
          <p:cNvPr id="366" name="Google Shape;366;p41">
            <a:extLst>
              <a:ext uri="{FF2B5EF4-FFF2-40B4-BE49-F238E27FC236}">
                <a16:creationId xmlns:a16="http://schemas.microsoft.com/office/drawing/2014/main" id="{760FB6FA-4BC9-A7AB-F5AC-203389FAA56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05950" y="1312600"/>
            <a:ext cx="1108800" cy="66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67" name="Google Shape;367;p41">
            <a:extLst>
              <a:ext uri="{FF2B5EF4-FFF2-40B4-BE49-F238E27FC236}">
                <a16:creationId xmlns:a16="http://schemas.microsoft.com/office/drawing/2014/main" id="{2401772E-0DC7-FE74-82B0-1E7ECA9B94AB}"/>
              </a:ext>
            </a:extLst>
          </p:cNvPr>
          <p:cNvSpPr/>
          <p:nvPr/>
        </p:nvSpPr>
        <p:spPr>
          <a:xfrm>
            <a:off x="5582028" y="1717150"/>
            <a:ext cx="1839000" cy="1840200"/>
          </a:xfrm>
          <a:prstGeom prst="roundRect">
            <a:avLst>
              <a:gd name="adj" fmla="val 31368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41">
            <a:extLst>
              <a:ext uri="{FF2B5EF4-FFF2-40B4-BE49-F238E27FC236}">
                <a16:creationId xmlns:a16="http://schemas.microsoft.com/office/drawing/2014/main" id="{22F26FDA-3C75-8370-11E3-6073D27DBE96}"/>
              </a:ext>
            </a:extLst>
          </p:cNvPr>
          <p:cNvGrpSpPr/>
          <p:nvPr/>
        </p:nvGrpSpPr>
        <p:grpSpPr>
          <a:xfrm>
            <a:off x="6037640" y="2304847"/>
            <a:ext cx="927784" cy="664807"/>
            <a:chOff x="-60621600" y="4145650"/>
            <a:chExt cx="316650" cy="226850"/>
          </a:xfrm>
        </p:grpSpPr>
        <p:sp>
          <p:nvSpPr>
            <p:cNvPr id="369" name="Google Shape;369;p41">
              <a:extLst>
                <a:ext uri="{FF2B5EF4-FFF2-40B4-BE49-F238E27FC236}">
                  <a16:creationId xmlns:a16="http://schemas.microsoft.com/office/drawing/2014/main" id="{B4B3CA90-C9A0-5AEA-EE3B-A33CB594C746}"/>
                </a:ext>
              </a:extLst>
            </p:cNvPr>
            <p:cNvSpPr/>
            <p:nvPr/>
          </p:nvSpPr>
          <p:spPr>
            <a:xfrm>
              <a:off x="-60463275" y="4249600"/>
              <a:ext cx="61450" cy="60675"/>
            </a:xfrm>
            <a:custGeom>
              <a:avLst/>
              <a:gdLst/>
              <a:ahLst/>
              <a:cxnLst/>
              <a:rect l="l" t="t" r="r" b="b"/>
              <a:pathLst>
                <a:path w="2458" h="2427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1">
              <a:extLst>
                <a:ext uri="{FF2B5EF4-FFF2-40B4-BE49-F238E27FC236}">
                  <a16:creationId xmlns:a16="http://schemas.microsoft.com/office/drawing/2014/main" id="{62F3930D-1FD6-0FD5-8F90-D646381A2920}"/>
                </a:ext>
              </a:extLst>
            </p:cNvPr>
            <p:cNvSpPr/>
            <p:nvPr/>
          </p:nvSpPr>
          <p:spPr>
            <a:xfrm>
              <a:off x="-60526300" y="4249600"/>
              <a:ext cx="48075" cy="60675"/>
            </a:xfrm>
            <a:custGeom>
              <a:avLst/>
              <a:gdLst/>
              <a:ahLst/>
              <a:cxnLst/>
              <a:rect l="l" t="t" r="r" b="b"/>
              <a:pathLst>
                <a:path w="1923" h="2427" extrusionOk="0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1">
              <a:extLst>
                <a:ext uri="{FF2B5EF4-FFF2-40B4-BE49-F238E27FC236}">
                  <a16:creationId xmlns:a16="http://schemas.microsoft.com/office/drawing/2014/main" id="{6723C306-0C45-A215-3615-550795E23D96}"/>
                </a:ext>
              </a:extLst>
            </p:cNvPr>
            <p:cNvSpPr/>
            <p:nvPr/>
          </p:nvSpPr>
          <p:spPr>
            <a:xfrm>
              <a:off x="-60621600" y="4145650"/>
              <a:ext cx="316650" cy="226850"/>
            </a:xfrm>
            <a:custGeom>
              <a:avLst/>
              <a:gdLst/>
              <a:ahLst/>
              <a:cxnLst/>
              <a:rect l="l" t="t" r="r" b="b"/>
              <a:pathLst>
                <a:path w="12666" h="9074" extrusionOk="0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05075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3574DC8E-6E9C-3759-C463-45281CAE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>
            <a:extLst>
              <a:ext uri="{FF2B5EF4-FFF2-40B4-BE49-F238E27FC236}">
                <a16:creationId xmlns:a16="http://schemas.microsoft.com/office/drawing/2014/main" id="{956126F9-017F-C93D-7D7A-5C3987EDE4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Model Used: Random Forest Classifier</a:t>
            </a:r>
            <a:endParaRPr sz="2400" dirty="0"/>
          </a:p>
        </p:txBody>
      </p:sp>
      <p:sp>
        <p:nvSpPr>
          <p:cNvPr id="9" name="Google Shape;377;p42">
            <a:extLst>
              <a:ext uri="{FF2B5EF4-FFF2-40B4-BE49-F238E27FC236}">
                <a16:creationId xmlns:a16="http://schemas.microsoft.com/office/drawing/2014/main" id="{D909B5AB-A1F9-16B9-604F-68C274DBDB16}"/>
              </a:ext>
            </a:extLst>
          </p:cNvPr>
          <p:cNvSpPr txBox="1">
            <a:spLocks/>
          </p:cNvSpPr>
          <p:nvPr/>
        </p:nvSpPr>
        <p:spPr>
          <a:xfrm>
            <a:off x="583967" y="1379615"/>
            <a:ext cx="3641524" cy="272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None/>
            </a:pPr>
            <a:r>
              <a:rPr lang="en-US" sz="1200" dirty="0"/>
              <a:t>The Random Forest algorithm was selected due to its strong performance and stability for credit scoring: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Handles mixed data types</a:t>
            </a:r>
            <a:r>
              <a:rPr lang="en-US" sz="1200" dirty="0"/>
              <a:t> (categorical + numerical)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Captures nonlinear patterns</a:t>
            </a:r>
            <a:r>
              <a:rPr lang="en-US" sz="1200" dirty="0"/>
              <a:t> that traditional models may miss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Reduces overfitting</a:t>
            </a:r>
            <a:r>
              <a:rPr lang="en-US" sz="1200" dirty="0"/>
              <a:t> through ensemble averaging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Provides interpretable feature importance scores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Well-suited for real-world credit risk applications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5" name="Google Shape;377;p42">
            <a:extLst>
              <a:ext uri="{FF2B5EF4-FFF2-40B4-BE49-F238E27FC236}">
                <a16:creationId xmlns:a16="http://schemas.microsoft.com/office/drawing/2014/main" id="{E7113C3F-F6F1-6BB4-3AC8-22FCD0DACE27}"/>
              </a:ext>
            </a:extLst>
          </p:cNvPr>
          <p:cNvSpPr txBox="1">
            <a:spLocks/>
          </p:cNvSpPr>
          <p:nvPr/>
        </p:nvSpPr>
        <p:spPr>
          <a:xfrm>
            <a:off x="4572000" y="1030698"/>
            <a:ext cx="3852000" cy="272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None/>
            </a:pPr>
            <a:r>
              <a:rPr lang="en-US" sz="1200" b="1" dirty="0"/>
              <a:t>Feature Importance (Global Model Insights)</a:t>
            </a:r>
          </a:p>
          <a:p>
            <a:pPr marL="139700" indent="0">
              <a:buNone/>
            </a:pPr>
            <a:r>
              <a:rPr lang="en-US" sz="1200" dirty="0"/>
              <a:t>The model identifies the following top drivers of credit approval: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Existing credit balance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Employment status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Housing status (rent vs own)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Number of previous credit accounts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Length of bank relationship</a:t>
            </a: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These insights help validate the model’s reasoning and support transparent, explainable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76874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1372532E-B87B-4D9D-3BC2-D59C273A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>
            <a:extLst>
              <a:ext uri="{FF2B5EF4-FFF2-40B4-BE49-F238E27FC236}">
                <a16:creationId xmlns:a16="http://schemas.microsoft.com/office/drawing/2014/main" id="{FF389867-6254-179F-43E4-4D4675E697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5950" y="2158100"/>
            <a:ext cx="3992234" cy="12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System Architecture &amp; Workflow</a:t>
            </a:r>
          </a:p>
        </p:txBody>
      </p:sp>
      <p:sp>
        <p:nvSpPr>
          <p:cNvPr id="366" name="Google Shape;366;p41">
            <a:extLst>
              <a:ext uri="{FF2B5EF4-FFF2-40B4-BE49-F238E27FC236}">
                <a16:creationId xmlns:a16="http://schemas.microsoft.com/office/drawing/2014/main" id="{3AFB0C51-7DBD-8866-533B-D030BD17366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05949" y="1312600"/>
            <a:ext cx="1263995" cy="66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67" name="Google Shape;367;p41">
            <a:extLst>
              <a:ext uri="{FF2B5EF4-FFF2-40B4-BE49-F238E27FC236}">
                <a16:creationId xmlns:a16="http://schemas.microsoft.com/office/drawing/2014/main" id="{7F823461-CDE2-794C-7668-9D230C1629B1}"/>
              </a:ext>
            </a:extLst>
          </p:cNvPr>
          <p:cNvSpPr/>
          <p:nvPr/>
        </p:nvSpPr>
        <p:spPr>
          <a:xfrm>
            <a:off x="5582028" y="1717150"/>
            <a:ext cx="1839000" cy="1840200"/>
          </a:xfrm>
          <a:prstGeom prst="roundRect">
            <a:avLst>
              <a:gd name="adj" fmla="val 31368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41">
            <a:extLst>
              <a:ext uri="{FF2B5EF4-FFF2-40B4-BE49-F238E27FC236}">
                <a16:creationId xmlns:a16="http://schemas.microsoft.com/office/drawing/2014/main" id="{64B6167D-0009-654C-BA34-57129C0357CC}"/>
              </a:ext>
            </a:extLst>
          </p:cNvPr>
          <p:cNvGrpSpPr/>
          <p:nvPr/>
        </p:nvGrpSpPr>
        <p:grpSpPr>
          <a:xfrm>
            <a:off x="6037640" y="2304847"/>
            <a:ext cx="927784" cy="664807"/>
            <a:chOff x="-60621600" y="4145650"/>
            <a:chExt cx="316650" cy="226850"/>
          </a:xfrm>
        </p:grpSpPr>
        <p:sp>
          <p:nvSpPr>
            <p:cNvPr id="369" name="Google Shape;369;p41">
              <a:extLst>
                <a:ext uri="{FF2B5EF4-FFF2-40B4-BE49-F238E27FC236}">
                  <a16:creationId xmlns:a16="http://schemas.microsoft.com/office/drawing/2014/main" id="{B9373A14-CBD1-819E-83F1-671AA235512D}"/>
                </a:ext>
              </a:extLst>
            </p:cNvPr>
            <p:cNvSpPr/>
            <p:nvPr/>
          </p:nvSpPr>
          <p:spPr>
            <a:xfrm>
              <a:off x="-60463275" y="4249600"/>
              <a:ext cx="61450" cy="60675"/>
            </a:xfrm>
            <a:custGeom>
              <a:avLst/>
              <a:gdLst/>
              <a:ahLst/>
              <a:cxnLst/>
              <a:rect l="l" t="t" r="r" b="b"/>
              <a:pathLst>
                <a:path w="2458" h="2427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1">
              <a:extLst>
                <a:ext uri="{FF2B5EF4-FFF2-40B4-BE49-F238E27FC236}">
                  <a16:creationId xmlns:a16="http://schemas.microsoft.com/office/drawing/2014/main" id="{4CB80121-A723-FF5D-879D-1B7F4ECF3ABE}"/>
                </a:ext>
              </a:extLst>
            </p:cNvPr>
            <p:cNvSpPr/>
            <p:nvPr/>
          </p:nvSpPr>
          <p:spPr>
            <a:xfrm>
              <a:off x="-60526300" y="4249600"/>
              <a:ext cx="48075" cy="60675"/>
            </a:xfrm>
            <a:custGeom>
              <a:avLst/>
              <a:gdLst/>
              <a:ahLst/>
              <a:cxnLst/>
              <a:rect l="l" t="t" r="r" b="b"/>
              <a:pathLst>
                <a:path w="1923" h="2427" extrusionOk="0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1">
              <a:extLst>
                <a:ext uri="{FF2B5EF4-FFF2-40B4-BE49-F238E27FC236}">
                  <a16:creationId xmlns:a16="http://schemas.microsoft.com/office/drawing/2014/main" id="{2AD2AE9B-8FBD-3805-6C63-853662517179}"/>
                </a:ext>
              </a:extLst>
            </p:cNvPr>
            <p:cNvSpPr/>
            <p:nvPr/>
          </p:nvSpPr>
          <p:spPr>
            <a:xfrm>
              <a:off x="-60621600" y="4145650"/>
              <a:ext cx="316650" cy="226850"/>
            </a:xfrm>
            <a:custGeom>
              <a:avLst/>
              <a:gdLst/>
              <a:ahLst/>
              <a:cxnLst/>
              <a:rect l="l" t="t" r="r" b="b"/>
              <a:pathLst>
                <a:path w="12666" h="9074" extrusionOk="0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2043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20F1-1685-AD62-112C-A3EB2400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User Input (Streamlit UI)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820D90-0DD5-0D84-3025-F2206675095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7543C07-BF9C-7D67-CC4A-B297418DB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614" y="2411125"/>
            <a:ext cx="2336400" cy="48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Applicant enters personal and financial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14 feature questions captured step-by-step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232977-FA28-E47D-91AE-BCA9268F49E2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en-US" sz="1600" dirty="0"/>
              <a:t>Random Forest Classifier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4FAA40-D319-D605-F8B8-3A5F0AFE7112}"/>
              </a:ext>
            </a:extLst>
          </p:cNvPr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6429E12-3ECB-F5B0-9E2A-46A5BE044E34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056400" y="2336250"/>
            <a:ext cx="2336400" cy="48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Numeric: Mean imputation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Categorical: Most frequent + One-Hot Encoding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50AAD6-7041-8722-9DCB-0DDFB9050566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6087600" y="1733475"/>
            <a:ext cx="2555948" cy="527700"/>
          </a:xfrm>
        </p:spPr>
        <p:txBody>
          <a:bodyPr/>
          <a:lstStyle/>
          <a:p>
            <a:r>
              <a:rPr lang="en-US" sz="1600" dirty="0"/>
              <a:t>Output Dashboard (Streamlit)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53F89A7-BA3A-9435-4F63-305A74686B15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AD310BC-0B1E-0DAF-F017-D1CE0EA7B0E0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5885468" y="2320072"/>
            <a:ext cx="2336400" cy="48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Predicts: </a:t>
            </a:r>
            <a:r>
              <a:rPr lang="en-US" sz="1100" b="1" dirty="0"/>
              <a:t>Approve / Deny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Computes: </a:t>
            </a:r>
            <a:r>
              <a:rPr lang="en-US" sz="1100" b="1" dirty="0"/>
              <a:t>Approval probability (%)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EFEAF16-E7C1-E3D4-4291-565E627BF825}"/>
              </a:ext>
            </a:extLst>
          </p:cNvPr>
          <p:cNvSpPr>
            <a:spLocks noGrp="1"/>
          </p:cNvSpPr>
          <p:nvPr>
            <p:ph type="title" idx="9"/>
          </p:nvPr>
        </p:nvSpPr>
        <p:spPr>
          <a:xfrm>
            <a:off x="720013" y="3423850"/>
            <a:ext cx="2336400" cy="527700"/>
          </a:xfrm>
        </p:spPr>
        <p:txBody>
          <a:bodyPr/>
          <a:lstStyle/>
          <a:p>
            <a:r>
              <a:rPr lang="en-US" sz="1600" dirty="0"/>
              <a:t>Preprocessing Pipeline (scikit-learn)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0EAC089-31A8-5183-F872-3F63BC4CF350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802A464E-0F42-C8A0-04AC-236A0F718669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539204" y="4204650"/>
            <a:ext cx="2336400" cy="48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Global feature importance (top 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Shows which attributes influence decisions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7ED71AB-645E-D2F5-6C79-DCEBA483DFFC}"/>
              </a:ext>
            </a:extLst>
          </p:cNvPr>
          <p:cNvSpPr>
            <a:spLocks noGrp="1"/>
          </p:cNvSpPr>
          <p:nvPr>
            <p:ph type="title" idx="15"/>
          </p:nvPr>
        </p:nvSpPr>
        <p:spPr>
          <a:xfrm>
            <a:off x="3404016" y="3370200"/>
            <a:ext cx="2481451" cy="527700"/>
          </a:xfrm>
        </p:spPr>
        <p:txBody>
          <a:bodyPr/>
          <a:lstStyle/>
          <a:p>
            <a:r>
              <a:rPr lang="en-US" sz="1600" dirty="0"/>
              <a:t>Model Explanation Module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3BFD2BC-7015-5761-6938-56A03FDBAE32}"/>
              </a:ext>
            </a:extLst>
          </p:cNvPr>
          <p:cNvSpPr>
            <a:spLocks noGrp="1"/>
          </p:cNvSpPr>
          <p:nvPr>
            <p:ph type="title" idx="16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E40F88D5-5F9D-494D-2FB9-51BD161E092E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3056400" y="4204650"/>
            <a:ext cx="2336400" cy="48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Final decision displayed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Probability shown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Chart explains model behavior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7958A31-79D9-AE0C-C7CD-513B64D4A702}"/>
              </a:ext>
            </a:extLst>
          </p:cNvPr>
          <p:cNvSpPr>
            <a:spLocks noGrp="1"/>
          </p:cNvSpPr>
          <p:nvPr>
            <p:ph type="title" idx="18"/>
          </p:nvPr>
        </p:nvSpPr>
        <p:spPr/>
        <p:txBody>
          <a:bodyPr/>
          <a:lstStyle/>
          <a:p>
            <a:r>
              <a:rPr lang="en-US" sz="1600" dirty="0"/>
              <a:t>Tableau Analytics Layer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D0201DB-3120-C256-1A23-A5BF467B1EC9}"/>
              </a:ext>
            </a:extLst>
          </p:cNvPr>
          <p:cNvSpPr>
            <a:spLocks noGrp="1"/>
          </p:cNvSpPr>
          <p:nvPr>
            <p:ph type="title" idx="19"/>
          </p:nvPr>
        </p:nvSpPr>
        <p:spPr/>
        <p:txBody>
          <a:bodyPr/>
          <a:lstStyle/>
          <a:p>
            <a:r>
              <a:rPr lang="en-US" dirty="0"/>
              <a:t>06</a:t>
            </a: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1103DA23-B52B-9944-BD7F-19E54F06D594}"/>
              </a:ext>
            </a:extLst>
          </p:cNvPr>
          <p:cNvSpPr>
            <a:spLocks noGrp="1"/>
          </p:cNvSpPr>
          <p:nvPr>
            <p:ph type="subTitle" idx="20"/>
          </p:nvPr>
        </p:nvSpPr>
        <p:spPr>
          <a:xfrm>
            <a:off x="5885468" y="4183200"/>
            <a:ext cx="2336400" cy="48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Portfolio-level risk dashboards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Approval trends &amp; segmentation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2D62CCE6-AB70-3981-792C-493213E6515C}"/>
              </a:ext>
            </a:extLst>
          </p:cNvPr>
          <p:cNvSpPr>
            <a:spLocks noGrp="1"/>
          </p:cNvSpPr>
          <p:nvPr>
            <p:ph type="title" idx="21"/>
          </p:nvPr>
        </p:nvSpPr>
        <p:spPr/>
        <p:txBody>
          <a:bodyPr/>
          <a:lstStyle/>
          <a:p>
            <a:r>
              <a:rPr lang="en-US" sz="2400" dirty="0"/>
              <a:t>System Architecture &amp; Workflow</a:t>
            </a:r>
          </a:p>
        </p:txBody>
      </p:sp>
    </p:spTree>
    <p:extLst>
      <p:ext uri="{BB962C8B-B14F-4D97-AF65-F5344CB8AC3E}">
        <p14:creationId xmlns:p14="http://schemas.microsoft.com/office/powerpoint/2010/main" val="1396975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110CBF9F-81AF-1CC1-21BF-AE0BACBA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>
            <a:extLst>
              <a:ext uri="{FF2B5EF4-FFF2-40B4-BE49-F238E27FC236}">
                <a16:creationId xmlns:a16="http://schemas.microsoft.com/office/drawing/2014/main" id="{E997D209-AC6A-0154-3265-B0EB47E95B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5950" y="2158100"/>
            <a:ext cx="3992234" cy="12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Conclusion</a:t>
            </a:r>
          </a:p>
        </p:txBody>
      </p:sp>
      <p:sp>
        <p:nvSpPr>
          <p:cNvPr id="366" name="Google Shape;366;p41">
            <a:extLst>
              <a:ext uri="{FF2B5EF4-FFF2-40B4-BE49-F238E27FC236}">
                <a16:creationId xmlns:a16="http://schemas.microsoft.com/office/drawing/2014/main" id="{EA99C26F-F3C7-A1F2-3681-AEF3C6EDE03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05949" y="1312600"/>
            <a:ext cx="1263995" cy="66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67" name="Google Shape;367;p41">
            <a:extLst>
              <a:ext uri="{FF2B5EF4-FFF2-40B4-BE49-F238E27FC236}">
                <a16:creationId xmlns:a16="http://schemas.microsoft.com/office/drawing/2014/main" id="{3BB25F48-98CB-59E0-694B-D2B6301F10B3}"/>
              </a:ext>
            </a:extLst>
          </p:cNvPr>
          <p:cNvSpPr/>
          <p:nvPr/>
        </p:nvSpPr>
        <p:spPr>
          <a:xfrm>
            <a:off x="5582028" y="1717150"/>
            <a:ext cx="1839000" cy="1840200"/>
          </a:xfrm>
          <a:prstGeom prst="roundRect">
            <a:avLst>
              <a:gd name="adj" fmla="val 31368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41">
            <a:extLst>
              <a:ext uri="{FF2B5EF4-FFF2-40B4-BE49-F238E27FC236}">
                <a16:creationId xmlns:a16="http://schemas.microsoft.com/office/drawing/2014/main" id="{D172F5C5-D5CE-63FE-DEFB-877330E7EC11}"/>
              </a:ext>
            </a:extLst>
          </p:cNvPr>
          <p:cNvGrpSpPr/>
          <p:nvPr/>
        </p:nvGrpSpPr>
        <p:grpSpPr>
          <a:xfrm>
            <a:off x="6037640" y="2304847"/>
            <a:ext cx="927784" cy="664807"/>
            <a:chOff x="-60621600" y="4145650"/>
            <a:chExt cx="316650" cy="226850"/>
          </a:xfrm>
        </p:grpSpPr>
        <p:sp>
          <p:nvSpPr>
            <p:cNvPr id="369" name="Google Shape;369;p41">
              <a:extLst>
                <a:ext uri="{FF2B5EF4-FFF2-40B4-BE49-F238E27FC236}">
                  <a16:creationId xmlns:a16="http://schemas.microsoft.com/office/drawing/2014/main" id="{07DC0892-1E97-ECA5-055C-AB07EB911C96}"/>
                </a:ext>
              </a:extLst>
            </p:cNvPr>
            <p:cNvSpPr/>
            <p:nvPr/>
          </p:nvSpPr>
          <p:spPr>
            <a:xfrm>
              <a:off x="-60463275" y="4249600"/>
              <a:ext cx="61450" cy="60675"/>
            </a:xfrm>
            <a:custGeom>
              <a:avLst/>
              <a:gdLst/>
              <a:ahLst/>
              <a:cxnLst/>
              <a:rect l="l" t="t" r="r" b="b"/>
              <a:pathLst>
                <a:path w="2458" h="2427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1">
              <a:extLst>
                <a:ext uri="{FF2B5EF4-FFF2-40B4-BE49-F238E27FC236}">
                  <a16:creationId xmlns:a16="http://schemas.microsoft.com/office/drawing/2014/main" id="{54F84972-1205-8F7E-55A8-515FF4C089A3}"/>
                </a:ext>
              </a:extLst>
            </p:cNvPr>
            <p:cNvSpPr/>
            <p:nvPr/>
          </p:nvSpPr>
          <p:spPr>
            <a:xfrm>
              <a:off x="-60526300" y="4249600"/>
              <a:ext cx="48075" cy="60675"/>
            </a:xfrm>
            <a:custGeom>
              <a:avLst/>
              <a:gdLst/>
              <a:ahLst/>
              <a:cxnLst/>
              <a:rect l="l" t="t" r="r" b="b"/>
              <a:pathLst>
                <a:path w="1923" h="2427" extrusionOk="0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1">
              <a:extLst>
                <a:ext uri="{FF2B5EF4-FFF2-40B4-BE49-F238E27FC236}">
                  <a16:creationId xmlns:a16="http://schemas.microsoft.com/office/drawing/2014/main" id="{B6053EAA-58ED-DAF0-E122-4A2E0A3FAB8D}"/>
                </a:ext>
              </a:extLst>
            </p:cNvPr>
            <p:cNvSpPr/>
            <p:nvPr/>
          </p:nvSpPr>
          <p:spPr>
            <a:xfrm>
              <a:off x="-60621600" y="4145650"/>
              <a:ext cx="316650" cy="226850"/>
            </a:xfrm>
            <a:custGeom>
              <a:avLst/>
              <a:gdLst/>
              <a:ahLst/>
              <a:cxnLst/>
              <a:rect l="l" t="t" r="r" b="b"/>
              <a:pathLst>
                <a:path w="12666" h="9074" extrusionOk="0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49151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6E47C406-D4C3-CD78-5838-854B6E4D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>
            <a:extLst>
              <a:ext uri="{FF2B5EF4-FFF2-40B4-BE49-F238E27FC236}">
                <a16:creationId xmlns:a16="http://schemas.microsoft.com/office/drawing/2014/main" id="{CF1D1D9E-4558-975A-0BB7-405B6ED5BF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Conclusion</a:t>
            </a:r>
            <a:endParaRPr sz="2400" dirty="0"/>
          </a:p>
        </p:txBody>
      </p:sp>
      <p:sp>
        <p:nvSpPr>
          <p:cNvPr id="9" name="Google Shape;377;p42">
            <a:extLst>
              <a:ext uri="{FF2B5EF4-FFF2-40B4-BE49-F238E27FC236}">
                <a16:creationId xmlns:a16="http://schemas.microsoft.com/office/drawing/2014/main" id="{18C81BF0-42F8-C1A4-FFB3-69872FED5BBF}"/>
              </a:ext>
            </a:extLst>
          </p:cNvPr>
          <p:cNvSpPr txBox="1">
            <a:spLocks/>
          </p:cNvSpPr>
          <p:nvPr/>
        </p:nvSpPr>
        <p:spPr>
          <a:xfrm>
            <a:off x="564716" y="1456617"/>
            <a:ext cx="3641524" cy="272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b="1" dirty="0"/>
              <a:t>Key Takeaways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Developed a </a:t>
            </a:r>
            <a:r>
              <a:rPr lang="en-US" b="1" dirty="0"/>
              <a:t>complete end-to-end credit risk assessment system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Achieved strong predictive performance using a </a:t>
            </a:r>
            <a:r>
              <a:rPr lang="en-US" b="1" dirty="0"/>
              <a:t>Random Forest classifier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Delivered an intuitive, step-by-step </a:t>
            </a:r>
            <a:r>
              <a:rPr lang="en-US" b="1" dirty="0"/>
              <a:t>Streamlit application</a:t>
            </a:r>
            <a:r>
              <a:rPr lang="en-US" dirty="0"/>
              <a:t> for real-time credit approval decisions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Enhanced model </a:t>
            </a:r>
            <a:r>
              <a:rPr lang="en-US" b="1" dirty="0"/>
              <a:t>transparency</a:t>
            </a:r>
            <a:r>
              <a:rPr lang="en-US" dirty="0"/>
              <a:t> through global feature importance insights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Demonstrated practical skills in </a:t>
            </a:r>
            <a:r>
              <a:rPr lang="en-US" b="1" dirty="0"/>
              <a:t>machine learning, deployment, and UI design</a:t>
            </a:r>
            <a:endParaRPr lang="en-US" dirty="0"/>
          </a:p>
        </p:txBody>
      </p:sp>
      <p:sp>
        <p:nvSpPr>
          <p:cNvPr id="25" name="Google Shape;377;p42">
            <a:extLst>
              <a:ext uri="{FF2B5EF4-FFF2-40B4-BE49-F238E27FC236}">
                <a16:creationId xmlns:a16="http://schemas.microsoft.com/office/drawing/2014/main" id="{4277BC98-D564-7C4D-C335-6523A7961D84}"/>
              </a:ext>
            </a:extLst>
          </p:cNvPr>
          <p:cNvSpPr txBox="1">
            <a:spLocks/>
          </p:cNvSpPr>
          <p:nvPr/>
        </p:nvSpPr>
        <p:spPr>
          <a:xfrm>
            <a:off x="4572000" y="1210876"/>
            <a:ext cx="3852000" cy="272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b="1" dirty="0"/>
              <a:t>Future Enhancements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Integrate </a:t>
            </a:r>
            <a:r>
              <a:rPr lang="en-US" b="1" dirty="0"/>
              <a:t>SHAP-based local explanations</a:t>
            </a:r>
            <a:r>
              <a:rPr lang="en-US" dirty="0"/>
              <a:t> for applicant-level insights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Conduct </a:t>
            </a:r>
            <a:r>
              <a:rPr lang="en-US" b="1" dirty="0"/>
              <a:t>multi-model comparison</a:t>
            </a:r>
            <a:r>
              <a:rPr lang="en-US" dirty="0"/>
              <a:t> (Logistic Regression,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Add </a:t>
            </a:r>
            <a:r>
              <a:rPr lang="en-US" b="1" dirty="0"/>
              <a:t>GPT-generated executive summaries</a:t>
            </a:r>
            <a:r>
              <a:rPr lang="en-US" dirty="0"/>
              <a:t> for portfolio reporting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Build connected </a:t>
            </a:r>
            <a:r>
              <a:rPr lang="en-US" b="1" dirty="0"/>
              <a:t>Tableau dashboards</a:t>
            </a:r>
            <a:r>
              <a:rPr lang="en-US" dirty="0"/>
              <a:t> for approval trends &amp; risk segmentation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Train the system on a </a:t>
            </a:r>
            <a:r>
              <a:rPr lang="en-US" b="1" dirty="0"/>
              <a:t>real-world banking dataset</a:t>
            </a:r>
            <a:r>
              <a:rPr lang="en-US" dirty="0"/>
              <a:t> for production-level performance</a:t>
            </a:r>
          </a:p>
        </p:txBody>
      </p:sp>
    </p:spTree>
    <p:extLst>
      <p:ext uri="{BB962C8B-B14F-4D97-AF65-F5344CB8AC3E}">
        <p14:creationId xmlns:p14="http://schemas.microsoft.com/office/powerpoint/2010/main" val="419293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D69131AB-3FAF-FD36-77A0-1C6757EB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>
            <a:extLst>
              <a:ext uri="{FF2B5EF4-FFF2-40B4-BE49-F238E27FC236}">
                <a16:creationId xmlns:a16="http://schemas.microsoft.com/office/drawing/2014/main" id="{2D51F8E1-50E1-521C-96A1-4024CDF0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5950" y="2158100"/>
            <a:ext cx="3992234" cy="12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APP on Streamlit</a:t>
            </a:r>
          </a:p>
        </p:txBody>
      </p:sp>
      <p:sp>
        <p:nvSpPr>
          <p:cNvPr id="366" name="Google Shape;366;p41">
            <a:extLst>
              <a:ext uri="{FF2B5EF4-FFF2-40B4-BE49-F238E27FC236}">
                <a16:creationId xmlns:a16="http://schemas.microsoft.com/office/drawing/2014/main" id="{38DF0D2F-E031-D444-1AEA-6895712BF9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05949" y="1312600"/>
            <a:ext cx="1263995" cy="66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67" name="Google Shape;367;p41">
            <a:extLst>
              <a:ext uri="{FF2B5EF4-FFF2-40B4-BE49-F238E27FC236}">
                <a16:creationId xmlns:a16="http://schemas.microsoft.com/office/drawing/2014/main" id="{DDA5821B-26A5-9292-E6AC-E78663217BAE}"/>
              </a:ext>
            </a:extLst>
          </p:cNvPr>
          <p:cNvSpPr/>
          <p:nvPr/>
        </p:nvSpPr>
        <p:spPr>
          <a:xfrm>
            <a:off x="5582028" y="1717150"/>
            <a:ext cx="1839000" cy="1840200"/>
          </a:xfrm>
          <a:prstGeom prst="roundRect">
            <a:avLst>
              <a:gd name="adj" fmla="val 31368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00063" dist="142875" dir="2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41">
            <a:extLst>
              <a:ext uri="{FF2B5EF4-FFF2-40B4-BE49-F238E27FC236}">
                <a16:creationId xmlns:a16="http://schemas.microsoft.com/office/drawing/2014/main" id="{6D0B924A-71D5-3C76-47DE-20A02507F32E}"/>
              </a:ext>
            </a:extLst>
          </p:cNvPr>
          <p:cNvGrpSpPr/>
          <p:nvPr/>
        </p:nvGrpSpPr>
        <p:grpSpPr>
          <a:xfrm>
            <a:off x="6037640" y="2304847"/>
            <a:ext cx="927784" cy="664807"/>
            <a:chOff x="-60621600" y="4145650"/>
            <a:chExt cx="316650" cy="226850"/>
          </a:xfrm>
        </p:grpSpPr>
        <p:sp>
          <p:nvSpPr>
            <p:cNvPr id="369" name="Google Shape;369;p41">
              <a:extLst>
                <a:ext uri="{FF2B5EF4-FFF2-40B4-BE49-F238E27FC236}">
                  <a16:creationId xmlns:a16="http://schemas.microsoft.com/office/drawing/2014/main" id="{A32C36B7-219D-5623-5991-4BBFAEEF112B}"/>
                </a:ext>
              </a:extLst>
            </p:cNvPr>
            <p:cNvSpPr/>
            <p:nvPr/>
          </p:nvSpPr>
          <p:spPr>
            <a:xfrm>
              <a:off x="-60463275" y="4249600"/>
              <a:ext cx="61450" cy="60675"/>
            </a:xfrm>
            <a:custGeom>
              <a:avLst/>
              <a:gdLst/>
              <a:ahLst/>
              <a:cxnLst/>
              <a:rect l="l" t="t" r="r" b="b"/>
              <a:pathLst>
                <a:path w="2458" h="2427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1">
              <a:extLst>
                <a:ext uri="{FF2B5EF4-FFF2-40B4-BE49-F238E27FC236}">
                  <a16:creationId xmlns:a16="http://schemas.microsoft.com/office/drawing/2014/main" id="{23302680-5E5E-FDDB-E02A-A8677A60A1CA}"/>
                </a:ext>
              </a:extLst>
            </p:cNvPr>
            <p:cNvSpPr/>
            <p:nvPr/>
          </p:nvSpPr>
          <p:spPr>
            <a:xfrm>
              <a:off x="-60526300" y="4249600"/>
              <a:ext cx="48075" cy="60675"/>
            </a:xfrm>
            <a:custGeom>
              <a:avLst/>
              <a:gdLst/>
              <a:ahLst/>
              <a:cxnLst/>
              <a:rect l="l" t="t" r="r" b="b"/>
              <a:pathLst>
                <a:path w="1923" h="2427" extrusionOk="0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1">
              <a:extLst>
                <a:ext uri="{FF2B5EF4-FFF2-40B4-BE49-F238E27FC236}">
                  <a16:creationId xmlns:a16="http://schemas.microsoft.com/office/drawing/2014/main" id="{30BE3380-0E7A-F6EF-F666-9B1960F15DE3}"/>
                </a:ext>
              </a:extLst>
            </p:cNvPr>
            <p:cNvSpPr/>
            <p:nvPr/>
          </p:nvSpPr>
          <p:spPr>
            <a:xfrm>
              <a:off x="-60621600" y="4145650"/>
              <a:ext cx="316650" cy="226850"/>
            </a:xfrm>
            <a:custGeom>
              <a:avLst/>
              <a:gdLst/>
              <a:ahLst/>
              <a:cxnLst/>
              <a:rect l="l" t="t" r="r" b="b"/>
              <a:pathLst>
                <a:path w="12666" h="9074" extrusionOk="0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99456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3FB9DD7A-5BD5-6E76-0624-DFCE4B03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>
            <a:extLst>
              <a:ext uri="{FF2B5EF4-FFF2-40B4-BE49-F238E27FC236}">
                <a16:creationId xmlns:a16="http://schemas.microsoft.com/office/drawing/2014/main" id="{4726467A-56F3-A33D-FB0A-2E3E8BBB5B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254" y="22854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Wrapping Up with Streamlit App</a:t>
            </a:r>
          </a:p>
        </p:txBody>
      </p:sp>
    </p:spTree>
    <p:extLst>
      <p:ext uri="{BB962C8B-B14F-4D97-AF65-F5344CB8AC3E}">
        <p14:creationId xmlns:p14="http://schemas.microsoft.com/office/powerpoint/2010/main" val="2607205022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Math for Financial Analysis by Slidesgo">
  <a:themeElements>
    <a:clrScheme name="Simple Light">
      <a:dk1>
        <a:srgbClr val="1F1E20"/>
      </a:dk1>
      <a:lt1>
        <a:srgbClr val="FFFFFF"/>
      </a:lt1>
      <a:dk2>
        <a:srgbClr val="9C5BFF"/>
      </a:dk2>
      <a:lt2>
        <a:srgbClr val="FFAB40"/>
      </a:lt2>
      <a:accent1>
        <a:srgbClr val="C435CC"/>
      </a:accent1>
      <a:accent2>
        <a:srgbClr val="97749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Macintosh PowerPoint</Application>
  <PresentationFormat>On-screen Show (16:9)</PresentationFormat>
  <Paragraphs>125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Courier New</vt:lpstr>
      <vt:lpstr>Arial</vt:lpstr>
      <vt:lpstr>Krona One</vt:lpstr>
      <vt:lpstr>Wingdings</vt:lpstr>
      <vt:lpstr>Lato</vt:lpstr>
      <vt:lpstr>Business Math for Financial Analysis by Slidesgo</vt:lpstr>
      <vt:lpstr>AI-Powered Credit Risk Assessment System Using the UCI Australian Credit Approval Dataset</vt:lpstr>
      <vt:lpstr>Problem &amp; Motivation</vt:lpstr>
      <vt:lpstr>Problem &amp; Motivation</vt:lpstr>
      <vt:lpstr>Problem &amp; Motivation</vt:lpstr>
      <vt:lpstr>Dataset &amp; Methodology</vt:lpstr>
      <vt:lpstr>Dataset</vt:lpstr>
      <vt:lpstr>Methodology</vt:lpstr>
      <vt:lpstr>Model &amp;  Evaluation</vt:lpstr>
      <vt:lpstr>Model Used: Random Forest Classifier</vt:lpstr>
      <vt:lpstr>System Architecture &amp; Workflow</vt:lpstr>
      <vt:lpstr>User Input (Streamlit UI)</vt:lpstr>
      <vt:lpstr>Conclusion</vt:lpstr>
      <vt:lpstr>Conclusion</vt:lpstr>
      <vt:lpstr>APP on Streamlit</vt:lpstr>
      <vt:lpstr>Wrapping Up with Streamlit App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Credit Risk Assessment System Using the UCI Australian Credit Approval Dataset</dc:title>
  <cp:lastModifiedBy>Panta, Venkatesh</cp:lastModifiedBy>
  <cp:revision>1</cp:revision>
  <dcterms:modified xsi:type="dcterms:W3CDTF">2025-11-18T03:33:09Z</dcterms:modified>
</cp:coreProperties>
</file>